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30" r:id="rId4"/>
    <p:sldId id="331" r:id="rId5"/>
    <p:sldId id="332" r:id="rId6"/>
    <p:sldId id="333" r:id="rId7"/>
    <p:sldId id="334" r:id="rId8"/>
    <p:sldId id="335" r:id="rId9"/>
    <p:sldId id="336" r:id="rId10"/>
    <p:sldId id="337" r:id="rId11"/>
    <p:sldId id="338" r:id="rId12"/>
    <p:sldId id="339" r:id="rId13"/>
    <p:sldId id="340" r:id="rId14"/>
    <p:sldId id="341" r:id="rId15"/>
    <p:sldId id="342" r:id="rId16"/>
    <p:sldId id="343" r:id="rId17"/>
    <p:sldId id="344" r:id="rId18"/>
    <p:sldId id="345" r:id="rId19"/>
    <p:sldId id="346" r:id="rId20"/>
    <p:sldId id="347" r:id="rId21"/>
    <p:sldId id="348" r:id="rId22"/>
    <p:sldId id="349" r:id="rId23"/>
    <p:sldId id="350" r:id="rId24"/>
    <p:sldId id="351" r:id="rId25"/>
    <p:sldId id="352" r:id="rId26"/>
    <p:sldId id="353" r:id="rId27"/>
    <p:sldId id="354" r:id="rId28"/>
    <p:sldId id="355" r:id="rId29"/>
    <p:sldId id="356" r:id="rId30"/>
    <p:sldId id="357" r:id="rId31"/>
    <p:sldId id="358" r:id="rId32"/>
    <p:sldId id="359" r:id="rId33"/>
    <p:sldId id="360" r:id="rId34"/>
    <p:sldId id="361" r:id="rId35"/>
    <p:sldId id="362" r:id="rId36"/>
    <p:sldId id="363" r:id="rId37"/>
    <p:sldId id="364" r:id="rId38"/>
    <p:sldId id="365" r:id="rId39"/>
    <p:sldId id="366" r:id="rId40"/>
    <p:sldId id="367" r:id="rId41"/>
    <p:sldId id="368" r:id="rId42"/>
    <p:sldId id="369" r:id="rId43"/>
    <p:sldId id="370" r:id="rId44"/>
    <p:sldId id="371" r:id="rId45"/>
    <p:sldId id="372" r:id="rId46"/>
    <p:sldId id="373" r:id="rId47"/>
    <p:sldId id="374" r:id="rId48"/>
    <p:sldId id="375" r:id="rId49"/>
    <p:sldId id="376"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D608D-D6BD-4BD7-8197-405E07F98A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00DBB40-C61A-4A0F-9E87-666BAFB7B7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C0EB6AB-7AD9-486F-B403-6D9CA23595AA}"/>
              </a:ext>
            </a:extLst>
          </p:cNvPr>
          <p:cNvSpPr>
            <a:spLocks noGrp="1"/>
          </p:cNvSpPr>
          <p:nvPr>
            <p:ph type="dt" sz="half" idx="10"/>
          </p:nvPr>
        </p:nvSpPr>
        <p:spPr/>
        <p:txBody>
          <a:bodyPr/>
          <a:lstStyle/>
          <a:p>
            <a:fld id="{5BA8577C-8660-4104-A940-94770BDFA81B}" type="datetimeFigureOut">
              <a:rPr lang="en-IN" smtClean="0"/>
              <a:t>12-02-2026</a:t>
            </a:fld>
            <a:endParaRPr lang="en-IN"/>
          </a:p>
        </p:txBody>
      </p:sp>
      <p:sp>
        <p:nvSpPr>
          <p:cNvPr id="5" name="Footer Placeholder 4">
            <a:extLst>
              <a:ext uri="{FF2B5EF4-FFF2-40B4-BE49-F238E27FC236}">
                <a16:creationId xmlns:a16="http://schemas.microsoft.com/office/drawing/2014/main" id="{72365A05-1F59-47D1-AC0C-22426572D2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BA12BC-3402-41CC-AE98-0532BFB37917}"/>
              </a:ext>
            </a:extLst>
          </p:cNvPr>
          <p:cNvSpPr>
            <a:spLocks noGrp="1"/>
          </p:cNvSpPr>
          <p:nvPr>
            <p:ph type="sldNum" sz="quarter" idx="12"/>
          </p:nvPr>
        </p:nvSpPr>
        <p:spPr/>
        <p:txBody>
          <a:bodyPr/>
          <a:lstStyle/>
          <a:p>
            <a:fld id="{6B562242-F505-4875-BAB9-EEC0BD11A29D}" type="slidenum">
              <a:rPr lang="en-IN" smtClean="0"/>
              <a:t>‹#›</a:t>
            </a:fld>
            <a:endParaRPr lang="en-IN"/>
          </a:p>
        </p:txBody>
      </p:sp>
    </p:spTree>
    <p:extLst>
      <p:ext uri="{BB962C8B-B14F-4D97-AF65-F5344CB8AC3E}">
        <p14:creationId xmlns:p14="http://schemas.microsoft.com/office/powerpoint/2010/main" val="1771601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B0866-7AFC-46AA-B955-3A14999E7E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B88E94-0D9B-4A75-B6AD-4198B164DE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F07E81-67E2-4FE7-B0D4-D6A4D14FEC1A}"/>
              </a:ext>
            </a:extLst>
          </p:cNvPr>
          <p:cNvSpPr>
            <a:spLocks noGrp="1"/>
          </p:cNvSpPr>
          <p:nvPr>
            <p:ph type="dt" sz="half" idx="10"/>
          </p:nvPr>
        </p:nvSpPr>
        <p:spPr/>
        <p:txBody>
          <a:bodyPr/>
          <a:lstStyle/>
          <a:p>
            <a:fld id="{5BA8577C-8660-4104-A940-94770BDFA81B}" type="datetimeFigureOut">
              <a:rPr lang="en-IN" smtClean="0"/>
              <a:t>12-02-2026</a:t>
            </a:fld>
            <a:endParaRPr lang="en-IN"/>
          </a:p>
        </p:txBody>
      </p:sp>
      <p:sp>
        <p:nvSpPr>
          <p:cNvPr id="5" name="Footer Placeholder 4">
            <a:extLst>
              <a:ext uri="{FF2B5EF4-FFF2-40B4-BE49-F238E27FC236}">
                <a16:creationId xmlns:a16="http://schemas.microsoft.com/office/drawing/2014/main" id="{EEBBE98B-C526-471C-A566-2E287E29FF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2CC2F8-F321-407C-8CF3-0AA0131708DD}"/>
              </a:ext>
            </a:extLst>
          </p:cNvPr>
          <p:cNvSpPr>
            <a:spLocks noGrp="1"/>
          </p:cNvSpPr>
          <p:nvPr>
            <p:ph type="sldNum" sz="quarter" idx="12"/>
          </p:nvPr>
        </p:nvSpPr>
        <p:spPr/>
        <p:txBody>
          <a:bodyPr/>
          <a:lstStyle/>
          <a:p>
            <a:fld id="{6B562242-F505-4875-BAB9-EEC0BD11A29D}" type="slidenum">
              <a:rPr lang="en-IN" smtClean="0"/>
              <a:t>‹#›</a:t>
            </a:fld>
            <a:endParaRPr lang="en-IN"/>
          </a:p>
        </p:txBody>
      </p:sp>
    </p:spTree>
    <p:extLst>
      <p:ext uri="{BB962C8B-B14F-4D97-AF65-F5344CB8AC3E}">
        <p14:creationId xmlns:p14="http://schemas.microsoft.com/office/powerpoint/2010/main" val="1114844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24108-D3AC-457F-B471-62A8BBF556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CBECD85-32B3-464A-A609-60C23B74A2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3053B3-2884-403A-BF4C-9058E60B3F42}"/>
              </a:ext>
            </a:extLst>
          </p:cNvPr>
          <p:cNvSpPr>
            <a:spLocks noGrp="1"/>
          </p:cNvSpPr>
          <p:nvPr>
            <p:ph type="dt" sz="half" idx="10"/>
          </p:nvPr>
        </p:nvSpPr>
        <p:spPr/>
        <p:txBody>
          <a:bodyPr/>
          <a:lstStyle/>
          <a:p>
            <a:fld id="{5BA8577C-8660-4104-A940-94770BDFA81B}" type="datetimeFigureOut">
              <a:rPr lang="en-IN" smtClean="0"/>
              <a:t>12-02-2026</a:t>
            </a:fld>
            <a:endParaRPr lang="en-IN"/>
          </a:p>
        </p:txBody>
      </p:sp>
      <p:sp>
        <p:nvSpPr>
          <p:cNvPr id="5" name="Footer Placeholder 4">
            <a:extLst>
              <a:ext uri="{FF2B5EF4-FFF2-40B4-BE49-F238E27FC236}">
                <a16:creationId xmlns:a16="http://schemas.microsoft.com/office/drawing/2014/main" id="{AEE19779-31CC-4BA7-938E-304E8E1940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4E78F7-A299-47B0-BEBF-78A04C1481A3}"/>
              </a:ext>
            </a:extLst>
          </p:cNvPr>
          <p:cNvSpPr>
            <a:spLocks noGrp="1"/>
          </p:cNvSpPr>
          <p:nvPr>
            <p:ph type="sldNum" sz="quarter" idx="12"/>
          </p:nvPr>
        </p:nvSpPr>
        <p:spPr/>
        <p:txBody>
          <a:bodyPr/>
          <a:lstStyle/>
          <a:p>
            <a:fld id="{6B562242-F505-4875-BAB9-EEC0BD11A29D}" type="slidenum">
              <a:rPr lang="en-IN" smtClean="0"/>
              <a:t>‹#›</a:t>
            </a:fld>
            <a:endParaRPr lang="en-IN"/>
          </a:p>
        </p:txBody>
      </p:sp>
    </p:spTree>
    <p:extLst>
      <p:ext uri="{BB962C8B-B14F-4D97-AF65-F5344CB8AC3E}">
        <p14:creationId xmlns:p14="http://schemas.microsoft.com/office/powerpoint/2010/main" val="3391164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FD953-F21A-482A-ABC6-3BA997F20C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87E5AD4-C1FC-425F-9942-822CD75BC9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846058F-A40A-4204-A449-AC2ED79562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ABB678F-A491-4B0E-9ECE-01B0A5DADA77}"/>
              </a:ext>
            </a:extLst>
          </p:cNvPr>
          <p:cNvSpPr>
            <a:spLocks noGrp="1"/>
          </p:cNvSpPr>
          <p:nvPr>
            <p:ph type="dt" sz="half" idx="10"/>
          </p:nvPr>
        </p:nvSpPr>
        <p:spPr/>
        <p:txBody>
          <a:bodyPr/>
          <a:lstStyle/>
          <a:p>
            <a:fld id="{5BA8577C-8660-4104-A940-94770BDFA81B}" type="datetimeFigureOut">
              <a:rPr lang="en-IN" smtClean="0"/>
              <a:t>12-02-2026</a:t>
            </a:fld>
            <a:endParaRPr lang="en-IN"/>
          </a:p>
        </p:txBody>
      </p:sp>
      <p:sp>
        <p:nvSpPr>
          <p:cNvPr id="6" name="Footer Placeholder 5">
            <a:extLst>
              <a:ext uri="{FF2B5EF4-FFF2-40B4-BE49-F238E27FC236}">
                <a16:creationId xmlns:a16="http://schemas.microsoft.com/office/drawing/2014/main" id="{00C8AA3E-B0B6-4C4A-B00D-6C3F969A83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CE9BB3-FB29-4D12-9F6B-719F1956B8A8}"/>
              </a:ext>
            </a:extLst>
          </p:cNvPr>
          <p:cNvSpPr>
            <a:spLocks noGrp="1"/>
          </p:cNvSpPr>
          <p:nvPr>
            <p:ph type="sldNum" sz="quarter" idx="12"/>
          </p:nvPr>
        </p:nvSpPr>
        <p:spPr/>
        <p:txBody>
          <a:bodyPr/>
          <a:lstStyle/>
          <a:p>
            <a:fld id="{6B562242-F505-4875-BAB9-EEC0BD11A29D}" type="slidenum">
              <a:rPr lang="en-IN" smtClean="0"/>
              <a:t>‹#›</a:t>
            </a:fld>
            <a:endParaRPr lang="en-IN"/>
          </a:p>
        </p:txBody>
      </p:sp>
    </p:spTree>
    <p:extLst>
      <p:ext uri="{BB962C8B-B14F-4D97-AF65-F5344CB8AC3E}">
        <p14:creationId xmlns:p14="http://schemas.microsoft.com/office/powerpoint/2010/main" val="3367595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6EDFE-653D-4828-8167-70F0FFB4DC9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D3E39E-C234-4AD6-8376-4B20FDBCB0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AA8D61-BA15-46C2-8B1B-3ED4673F24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65AD6C9-0FDC-4A0D-AB65-5F007A2D1C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972112-25F3-418B-BF24-C74E8C8406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2612BB6-4164-49E1-AAE7-5306D384467E}"/>
              </a:ext>
            </a:extLst>
          </p:cNvPr>
          <p:cNvSpPr>
            <a:spLocks noGrp="1"/>
          </p:cNvSpPr>
          <p:nvPr>
            <p:ph type="dt" sz="half" idx="10"/>
          </p:nvPr>
        </p:nvSpPr>
        <p:spPr/>
        <p:txBody>
          <a:bodyPr/>
          <a:lstStyle/>
          <a:p>
            <a:fld id="{5BA8577C-8660-4104-A940-94770BDFA81B}" type="datetimeFigureOut">
              <a:rPr lang="en-IN" smtClean="0"/>
              <a:t>12-02-2026</a:t>
            </a:fld>
            <a:endParaRPr lang="en-IN"/>
          </a:p>
        </p:txBody>
      </p:sp>
      <p:sp>
        <p:nvSpPr>
          <p:cNvPr id="8" name="Footer Placeholder 7">
            <a:extLst>
              <a:ext uri="{FF2B5EF4-FFF2-40B4-BE49-F238E27FC236}">
                <a16:creationId xmlns:a16="http://schemas.microsoft.com/office/drawing/2014/main" id="{BDD7801D-1F43-4445-B0BE-0C696A77EB2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214FE1-4CED-4B18-96D4-5AF6AEDFE76E}"/>
              </a:ext>
            </a:extLst>
          </p:cNvPr>
          <p:cNvSpPr>
            <a:spLocks noGrp="1"/>
          </p:cNvSpPr>
          <p:nvPr>
            <p:ph type="sldNum" sz="quarter" idx="12"/>
          </p:nvPr>
        </p:nvSpPr>
        <p:spPr/>
        <p:txBody>
          <a:bodyPr/>
          <a:lstStyle/>
          <a:p>
            <a:fld id="{6B562242-F505-4875-BAB9-EEC0BD11A29D}" type="slidenum">
              <a:rPr lang="en-IN" smtClean="0"/>
              <a:t>‹#›</a:t>
            </a:fld>
            <a:endParaRPr lang="en-IN"/>
          </a:p>
        </p:txBody>
      </p:sp>
    </p:spTree>
    <p:extLst>
      <p:ext uri="{BB962C8B-B14F-4D97-AF65-F5344CB8AC3E}">
        <p14:creationId xmlns:p14="http://schemas.microsoft.com/office/powerpoint/2010/main" val="1904417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D5975-3A5C-4041-95E7-1599BAB3D91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39BC09E-0DD9-4544-84C7-0DB3C1DDFDA4}"/>
              </a:ext>
            </a:extLst>
          </p:cNvPr>
          <p:cNvSpPr>
            <a:spLocks noGrp="1"/>
          </p:cNvSpPr>
          <p:nvPr>
            <p:ph type="dt" sz="half" idx="10"/>
          </p:nvPr>
        </p:nvSpPr>
        <p:spPr/>
        <p:txBody>
          <a:bodyPr/>
          <a:lstStyle/>
          <a:p>
            <a:fld id="{5BA8577C-8660-4104-A940-94770BDFA81B}" type="datetimeFigureOut">
              <a:rPr lang="en-IN" smtClean="0"/>
              <a:t>12-02-2026</a:t>
            </a:fld>
            <a:endParaRPr lang="en-IN"/>
          </a:p>
        </p:txBody>
      </p:sp>
      <p:sp>
        <p:nvSpPr>
          <p:cNvPr id="4" name="Footer Placeholder 3">
            <a:extLst>
              <a:ext uri="{FF2B5EF4-FFF2-40B4-BE49-F238E27FC236}">
                <a16:creationId xmlns:a16="http://schemas.microsoft.com/office/drawing/2014/main" id="{5C5360C7-CC76-4FFB-A18C-EED4614E8EF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C1BAB7C-349B-4967-8365-9D11F41158DB}"/>
              </a:ext>
            </a:extLst>
          </p:cNvPr>
          <p:cNvSpPr>
            <a:spLocks noGrp="1"/>
          </p:cNvSpPr>
          <p:nvPr>
            <p:ph type="sldNum" sz="quarter" idx="12"/>
          </p:nvPr>
        </p:nvSpPr>
        <p:spPr/>
        <p:txBody>
          <a:bodyPr/>
          <a:lstStyle/>
          <a:p>
            <a:fld id="{6B562242-F505-4875-BAB9-EEC0BD11A29D}" type="slidenum">
              <a:rPr lang="en-IN" smtClean="0"/>
              <a:t>‹#›</a:t>
            </a:fld>
            <a:endParaRPr lang="en-IN"/>
          </a:p>
        </p:txBody>
      </p:sp>
    </p:spTree>
    <p:extLst>
      <p:ext uri="{BB962C8B-B14F-4D97-AF65-F5344CB8AC3E}">
        <p14:creationId xmlns:p14="http://schemas.microsoft.com/office/powerpoint/2010/main" val="2303455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0F4716-24F8-4A92-9442-5655C670199A}"/>
              </a:ext>
            </a:extLst>
          </p:cNvPr>
          <p:cNvSpPr>
            <a:spLocks noGrp="1"/>
          </p:cNvSpPr>
          <p:nvPr>
            <p:ph type="dt" sz="half" idx="10"/>
          </p:nvPr>
        </p:nvSpPr>
        <p:spPr/>
        <p:txBody>
          <a:bodyPr/>
          <a:lstStyle/>
          <a:p>
            <a:fld id="{5BA8577C-8660-4104-A940-94770BDFA81B}" type="datetimeFigureOut">
              <a:rPr lang="en-IN" smtClean="0"/>
              <a:t>12-02-2026</a:t>
            </a:fld>
            <a:endParaRPr lang="en-IN"/>
          </a:p>
        </p:txBody>
      </p:sp>
      <p:sp>
        <p:nvSpPr>
          <p:cNvPr id="3" name="Footer Placeholder 2">
            <a:extLst>
              <a:ext uri="{FF2B5EF4-FFF2-40B4-BE49-F238E27FC236}">
                <a16:creationId xmlns:a16="http://schemas.microsoft.com/office/drawing/2014/main" id="{5DE83A21-ADE8-4DA3-8123-33FA17D46B9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7EBD25A-A5F5-4BA2-A744-1AA8494FDCAD}"/>
              </a:ext>
            </a:extLst>
          </p:cNvPr>
          <p:cNvSpPr>
            <a:spLocks noGrp="1"/>
          </p:cNvSpPr>
          <p:nvPr>
            <p:ph type="sldNum" sz="quarter" idx="12"/>
          </p:nvPr>
        </p:nvSpPr>
        <p:spPr/>
        <p:txBody>
          <a:bodyPr/>
          <a:lstStyle/>
          <a:p>
            <a:fld id="{6B562242-F505-4875-BAB9-EEC0BD11A29D}" type="slidenum">
              <a:rPr lang="en-IN" smtClean="0"/>
              <a:t>‹#›</a:t>
            </a:fld>
            <a:endParaRPr lang="en-IN"/>
          </a:p>
        </p:txBody>
      </p:sp>
    </p:spTree>
    <p:extLst>
      <p:ext uri="{BB962C8B-B14F-4D97-AF65-F5344CB8AC3E}">
        <p14:creationId xmlns:p14="http://schemas.microsoft.com/office/powerpoint/2010/main" val="3090396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014FB-D47A-4D3C-8F01-35542A3AD3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FDFC4F3-307A-45C3-AADC-C5E03DF4A0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C5A49AC-8536-4FBC-B174-D3AEF3B3D3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2F3BE5-0AE3-474A-B24F-CB93DE219971}"/>
              </a:ext>
            </a:extLst>
          </p:cNvPr>
          <p:cNvSpPr>
            <a:spLocks noGrp="1"/>
          </p:cNvSpPr>
          <p:nvPr>
            <p:ph type="dt" sz="half" idx="10"/>
          </p:nvPr>
        </p:nvSpPr>
        <p:spPr/>
        <p:txBody>
          <a:bodyPr/>
          <a:lstStyle/>
          <a:p>
            <a:fld id="{5BA8577C-8660-4104-A940-94770BDFA81B}" type="datetimeFigureOut">
              <a:rPr lang="en-IN" smtClean="0"/>
              <a:t>12-02-2026</a:t>
            </a:fld>
            <a:endParaRPr lang="en-IN"/>
          </a:p>
        </p:txBody>
      </p:sp>
      <p:sp>
        <p:nvSpPr>
          <p:cNvPr id="6" name="Footer Placeholder 5">
            <a:extLst>
              <a:ext uri="{FF2B5EF4-FFF2-40B4-BE49-F238E27FC236}">
                <a16:creationId xmlns:a16="http://schemas.microsoft.com/office/drawing/2014/main" id="{2B14676E-CCD9-410A-B628-4F9EB6B7ED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EA8E21-0F19-4C67-937F-A285065A16B5}"/>
              </a:ext>
            </a:extLst>
          </p:cNvPr>
          <p:cNvSpPr>
            <a:spLocks noGrp="1"/>
          </p:cNvSpPr>
          <p:nvPr>
            <p:ph type="sldNum" sz="quarter" idx="12"/>
          </p:nvPr>
        </p:nvSpPr>
        <p:spPr/>
        <p:txBody>
          <a:bodyPr/>
          <a:lstStyle/>
          <a:p>
            <a:fld id="{6B562242-F505-4875-BAB9-EEC0BD11A29D}" type="slidenum">
              <a:rPr lang="en-IN" smtClean="0"/>
              <a:t>‹#›</a:t>
            </a:fld>
            <a:endParaRPr lang="en-IN"/>
          </a:p>
        </p:txBody>
      </p:sp>
    </p:spTree>
    <p:extLst>
      <p:ext uri="{BB962C8B-B14F-4D97-AF65-F5344CB8AC3E}">
        <p14:creationId xmlns:p14="http://schemas.microsoft.com/office/powerpoint/2010/main" val="2379445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D7E83-3A77-447B-B54B-2837044098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F06A414-CC16-4C62-AE1F-15A65E14CB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9E2F918-0715-4647-8A4D-754F6D87FA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E9E26A-F8E4-42B1-8D4D-B535A50511CF}"/>
              </a:ext>
            </a:extLst>
          </p:cNvPr>
          <p:cNvSpPr>
            <a:spLocks noGrp="1"/>
          </p:cNvSpPr>
          <p:nvPr>
            <p:ph type="dt" sz="half" idx="10"/>
          </p:nvPr>
        </p:nvSpPr>
        <p:spPr/>
        <p:txBody>
          <a:bodyPr/>
          <a:lstStyle/>
          <a:p>
            <a:fld id="{5BA8577C-8660-4104-A940-94770BDFA81B}" type="datetimeFigureOut">
              <a:rPr lang="en-IN" smtClean="0"/>
              <a:t>12-02-2026</a:t>
            </a:fld>
            <a:endParaRPr lang="en-IN"/>
          </a:p>
        </p:txBody>
      </p:sp>
      <p:sp>
        <p:nvSpPr>
          <p:cNvPr id="6" name="Footer Placeholder 5">
            <a:extLst>
              <a:ext uri="{FF2B5EF4-FFF2-40B4-BE49-F238E27FC236}">
                <a16:creationId xmlns:a16="http://schemas.microsoft.com/office/drawing/2014/main" id="{DBA4055C-AEA2-48AA-8F2E-A3CBD259B8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82CF3B-E097-49E7-AFBD-B859DE45E7AE}"/>
              </a:ext>
            </a:extLst>
          </p:cNvPr>
          <p:cNvSpPr>
            <a:spLocks noGrp="1"/>
          </p:cNvSpPr>
          <p:nvPr>
            <p:ph type="sldNum" sz="quarter" idx="12"/>
          </p:nvPr>
        </p:nvSpPr>
        <p:spPr/>
        <p:txBody>
          <a:bodyPr/>
          <a:lstStyle/>
          <a:p>
            <a:fld id="{6B562242-F505-4875-BAB9-EEC0BD11A29D}" type="slidenum">
              <a:rPr lang="en-IN" smtClean="0"/>
              <a:t>‹#›</a:t>
            </a:fld>
            <a:endParaRPr lang="en-IN"/>
          </a:p>
        </p:txBody>
      </p:sp>
    </p:spTree>
    <p:extLst>
      <p:ext uri="{BB962C8B-B14F-4D97-AF65-F5344CB8AC3E}">
        <p14:creationId xmlns:p14="http://schemas.microsoft.com/office/powerpoint/2010/main" val="1345938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87EF3-D147-4C4C-9D88-C334CA65463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CA3D401-01D8-4E13-ACCF-27A050BD86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4B6D98-86CF-447E-A77F-29336EF8F576}"/>
              </a:ext>
            </a:extLst>
          </p:cNvPr>
          <p:cNvSpPr>
            <a:spLocks noGrp="1"/>
          </p:cNvSpPr>
          <p:nvPr>
            <p:ph type="dt" sz="half" idx="10"/>
          </p:nvPr>
        </p:nvSpPr>
        <p:spPr/>
        <p:txBody>
          <a:bodyPr/>
          <a:lstStyle/>
          <a:p>
            <a:fld id="{5BA8577C-8660-4104-A940-94770BDFA81B}" type="datetimeFigureOut">
              <a:rPr lang="en-IN" smtClean="0"/>
              <a:t>12-02-2026</a:t>
            </a:fld>
            <a:endParaRPr lang="en-IN"/>
          </a:p>
        </p:txBody>
      </p:sp>
      <p:sp>
        <p:nvSpPr>
          <p:cNvPr id="5" name="Footer Placeholder 4">
            <a:extLst>
              <a:ext uri="{FF2B5EF4-FFF2-40B4-BE49-F238E27FC236}">
                <a16:creationId xmlns:a16="http://schemas.microsoft.com/office/drawing/2014/main" id="{7B566C16-1B01-47FE-89B2-D024F4F2F2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DCECBD-D564-44AD-BD26-E2527BE090EA}"/>
              </a:ext>
            </a:extLst>
          </p:cNvPr>
          <p:cNvSpPr>
            <a:spLocks noGrp="1"/>
          </p:cNvSpPr>
          <p:nvPr>
            <p:ph type="sldNum" sz="quarter" idx="12"/>
          </p:nvPr>
        </p:nvSpPr>
        <p:spPr/>
        <p:txBody>
          <a:bodyPr/>
          <a:lstStyle/>
          <a:p>
            <a:fld id="{6B562242-F505-4875-BAB9-EEC0BD11A29D}" type="slidenum">
              <a:rPr lang="en-IN" smtClean="0"/>
              <a:t>‹#›</a:t>
            </a:fld>
            <a:endParaRPr lang="en-IN"/>
          </a:p>
        </p:txBody>
      </p:sp>
    </p:spTree>
    <p:extLst>
      <p:ext uri="{BB962C8B-B14F-4D97-AF65-F5344CB8AC3E}">
        <p14:creationId xmlns:p14="http://schemas.microsoft.com/office/powerpoint/2010/main" val="2593318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BDF0EE-29DE-4B0F-AD2B-9EA80401DC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9D155A9-928F-43FC-B101-529516786A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F718FA-DAF9-4AA8-9B77-5111E3FB087C}"/>
              </a:ext>
            </a:extLst>
          </p:cNvPr>
          <p:cNvSpPr>
            <a:spLocks noGrp="1"/>
          </p:cNvSpPr>
          <p:nvPr>
            <p:ph type="dt" sz="half" idx="10"/>
          </p:nvPr>
        </p:nvSpPr>
        <p:spPr/>
        <p:txBody>
          <a:bodyPr/>
          <a:lstStyle/>
          <a:p>
            <a:fld id="{5BA8577C-8660-4104-A940-94770BDFA81B}" type="datetimeFigureOut">
              <a:rPr lang="en-IN" smtClean="0"/>
              <a:t>12-02-2026</a:t>
            </a:fld>
            <a:endParaRPr lang="en-IN"/>
          </a:p>
        </p:txBody>
      </p:sp>
      <p:sp>
        <p:nvSpPr>
          <p:cNvPr id="5" name="Footer Placeholder 4">
            <a:extLst>
              <a:ext uri="{FF2B5EF4-FFF2-40B4-BE49-F238E27FC236}">
                <a16:creationId xmlns:a16="http://schemas.microsoft.com/office/drawing/2014/main" id="{7ABB5B7E-28F8-4E69-9213-760CA4221A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3A8FBD-299B-42B5-976C-D947299090AD}"/>
              </a:ext>
            </a:extLst>
          </p:cNvPr>
          <p:cNvSpPr>
            <a:spLocks noGrp="1"/>
          </p:cNvSpPr>
          <p:nvPr>
            <p:ph type="sldNum" sz="quarter" idx="12"/>
          </p:nvPr>
        </p:nvSpPr>
        <p:spPr/>
        <p:txBody>
          <a:bodyPr/>
          <a:lstStyle/>
          <a:p>
            <a:fld id="{6B562242-F505-4875-BAB9-EEC0BD11A29D}" type="slidenum">
              <a:rPr lang="en-IN" smtClean="0"/>
              <a:t>‹#›</a:t>
            </a:fld>
            <a:endParaRPr lang="en-IN"/>
          </a:p>
        </p:txBody>
      </p:sp>
    </p:spTree>
    <p:extLst>
      <p:ext uri="{BB962C8B-B14F-4D97-AF65-F5344CB8AC3E}">
        <p14:creationId xmlns:p14="http://schemas.microsoft.com/office/powerpoint/2010/main" val="4051046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A72347-9053-429B-B4B5-132487FD0B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9CD5FC-37AC-4E51-8523-E95DCDBF5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F27E55-656D-4499-8F12-ED823DE994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A8577C-8660-4104-A940-94770BDFA81B}" type="datetimeFigureOut">
              <a:rPr lang="en-IN" smtClean="0"/>
              <a:t>12-02-2026</a:t>
            </a:fld>
            <a:endParaRPr lang="en-IN"/>
          </a:p>
        </p:txBody>
      </p:sp>
      <p:sp>
        <p:nvSpPr>
          <p:cNvPr id="5" name="Footer Placeholder 4">
            <a:extLst>
              <a:ext uri="{FF2B5EF4-FFF2-40B4-BE49-F238E27FC236}">
                <a16:creationId xmlns:a16="http://schemas.microsoft.com/office/drawing/2014/main" id="{4EEF06EA-DAA8-4509-A33F-E628DDF867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AE763CA-3C91-41DD-99D2-F5336E409C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562242-F505-4875-BAB9-EEC0BD11A29D}" type="slidenum">
              <a:rPr lang="en-IN" smtClean="0"/>
              <a:t>‹#›</a:t>
            </a:fld>
            <a:endParaRPr lang="en-IN"/>
          </a:p>
        </p:txBody>
      </p:sp>
    </p:spTree>
    <p:extLst>
      <p:ext uri="{BB962C8B-B14F-4D97-AF65-F5344CB8AC3E}">
        <p14:creationId xmlns:p14="http://schemas.microsoft.com/office/powerpoint/2010/main" val="2713300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CC7FB-23FB-4680-812C-F7F490164819}"/>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1E92CF56-F235-4B83-B477-37E34B3C573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304045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21FB1-F80C-445F-89A8-1E1AEB5AD22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6A0271F-1651-4F8F-881F-5C8B4129FAFA}"/>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1892918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EF823-7CCF-4C04-ACC6-3C422F36398F}"/>
              </a:ext>
            </a:extLst>
          </p:cNvPr>
          <p:cNvSpPr>
            <a:spLocks noGrp="1"/>
          </p:cNvSpPr>
          <p:nvPr>
            <p:ph type="title"/>
          </p:nvPr>
        </p:nvSpPr>
        <p:spPr/>
        <p:txBody>
          <a:bodyPr/>
          <a:lstStyle/>
          <a:p>
            <a:r>
              <a:rPr lang="en-US" b="1" u="words" dirty="0"/>
              <a:t>Data Manipulation Language (DML)</a:t>
            </a:r>
            <a:endParaRPr lang="en-IN" dirty="0"/>
          </a:p>
        </p:txBody>
      </p:sp>
      <p:sp>
        <p:nvSpPr>
          <p:cNvPr id="3" name="Content Placeholder 2">
            <a:extLst>
              <a:ext uri="{FF2B5EF4-FFF2-40B4-BE49-F238E27FC236}">
                <a16:creationId xmlns:a16="http://schemas.microsoft.com/office/drawing/2014/main" id="{EFABC6E8-E90E-4B4A-A857-E3C80FBC83CC}"/>
              </a:ext>
            </a:extLst>
          </p:cNvPr>
          <p:cNvSpPr>
            <a:spLocks noGrp="1"/>
          </p:cNvSpPr>
          <p:nvPr>
            <p:ph idx="1"/>
          </p:nvPr>
        </p:nvSpPr>
        <p:spPr/>
        <p:txBody>
          <a:bodyPr/>
          <a:lstStyle/>
          <a:p>
            <a:r>
              <a:rPr lang="en-US" dirty="0"/>
              <a:t>	The commands of SQL that are used to insert data into the database, modify the contents of the database and to delete the data from the database are collectively called as DML. SQL Server provides </a:t>
            </a:r>
            <a:r>
              <a:rPr lang="en-US" b="1" dirty="0"/>
              <a:t>Insert</a:t>
            </a:r>
            <a:r>
              <a:rPr lang="en-US" dirty="0"/>
              <a:t> command for inserting data into the database, </a:t>
            </a:r>
            <a:r>
              <a:rPr lang="en-US" b="1" dirty="0"/>
              <a:t>Update </a:t>
            </a:r>
            <a:r>
              <a:rPr lang="en-US" dirty="0"/>
              <a:t>command to make modifications to the data and </a:t>
            </a:r>
            <a:r>
              <a:rPr lang="en-US" b="1" dirty="0"/>
              <a:t>Delete </a:t>
            </a:r>
            <a:r>
              <a:rPr lang="en-US" dirty="0"/>
              <a:t>command to delete data from the database.</a:t>
            </a:r>
            <a:endParaRPr lang="en-IN" dirty="0"/>
          </a:p>
          <a:p>
            <a:endParaRPr lang="en-IN" dirty="0"/>
          </a:p>
        </p:txBody>
      </p:sp>
    </p:spTree>
    <p:extLst>
      <p:ext uri="{BB962C8B-B14F-4D97-AF65-F5344CB8AC3E}">
        <p14:creationId xmlns:p14="http://schemas.microsoft.com/office/powerpoint/2010/main" val="2994492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31726-F406-43BA-B617-1078A8658C5F}"/>
              </a:ext>
            </a:extLst>
          </p:cNvPr>
          <p:cNvSpPr>
            <a:spLocks noGrp="1"/>
          </p:cNvSpPr>
          <p:nvPr>
            <p:ph type="title"/>
          </p:nvPr>
        </p:nvSpPr>
        <p:spPr>
          <a:xfrm>
            <a:off x="838200" y="365125"/>
            <a:ext cx="10515600" cy="832079"/>
          </a:xfrm>
        </p:spPr>
        <p:txBody>
          <a:bodyPr/>
          <a:lstStyle/>
          <a:p>
            <a:r>
              <a:rPr lang="en-US" b="1" u="words" dirty="0"/>
              <a:t>Inserting Data Into A Table</a:t>
            </a:r>
            <a:endParaRPr lang="en-IN" dirty="0"/>
          </a:p>
        </p:txBody>
      </p:sp>
      <p:sp>
        <p:nvSpPr>
          <p:cNvPr id="3" name="Content Placeholder 2">
            <a:extLst>
              <a:ext uri="{FF2B5EF4-FFF2-40B4-BE49-F238E27FC236}">
                <a16:creationId xmlns:a16="http://schemas.microsoft.com/office/drawing/2014/main" id="{5449F01E-FC32-4F6C-A4AB-2BCD23C323F0}"/>
              </a:ext>
            </a:extLst>
          </p:cNvPr>
          <p:cNvSpPr>
            <a:spLocks noGrp="1"/>
          </p:cNvSpPr>
          <p:nvPr>
            <p:ph idx="1"/>
          </p:nvPr>
        </p:nvSpPr>
        <p:spPr>
          <a:xfrm>
            <a:off x="838200" y="1131216"/>
            <a:ext cx="10515600" cy="5045747"/>
          </a:xfrm>
        </p:spPr>
        <p:txBody>
          <a:bodyPr>
            <a:normAutofit fontScale="92500"/>
          </a:bodyPr>
          <a:lstStyle/>
          <a:p>
            <a:r>
              <a:rPr lang="en-US" b="1" dirty="0"/>
              <a:t>1. Insert into </a:t>
            </a:r>
            <a:r>
              <a:rPr lang="en-US" b="1" dirty="0" err="1"/>
              <a:t>tablename</a:t>
            </a:r>
            <a:r>
              <a:rPr lang="en-US" b="1" dirty="0"/>
              <a:t> values(val1,val2,val3,…,</a:t>
            </a:r>
            <a:r>
              <a:rPr lang="en-US" b="1" dirty="0" err="1"/>
              <a:t>valn</a:t>
            </a:r>
            <a:r>
              <a:rPr lang="en-US" b="1" dirty="0"/>
              <a:t>)</a:t>
            </a:r>
            <a:endParaRPr lang="en-IN" dirty="0"/>
          </a:p>
          <a:p>
            <a:r>
              <a:rPr lang="en-US" b="1" dirty="0"/>
              <a:t>	</a:t>
            </a:r>
            <a:r>
              <a:rPr lang="en-US" dirty="0"/>
              <a:t>	When you are using this syntax, you must specify a value for every column of the table. Even for a column which allows null values you must specify the value as </a:t>
            </a:r>
            <a:r>
              <a:rPr lang="en-US" b="1" dirty="0"/>
              <a:t>null </a:t>
            </a:r>
            <a:r>
              <a:rPr lang="en-US" dirty="0"/>
              <a:t>to insert null value into that column. If you want to insert the default value for a column then use the keyword </a:t>
            </a:r>
            <a:r>
              <a:rPr lang="en-US" b="1" dirty="0"/>
              <a:t>default. </a:t>
            </a:r>
            <a:endParaRPr lang="en-IN" dirty="0"/>
          </a:p>
          <a:p>
            <a:r>
              <a:rPr lang="en-US" b="1" dirty="0"/>
              <a:t>Ex 1 :</a:t>
            </a:r>
            <a:r>
              <a:rPr lang="en-US" dirty="0"/>
              <a:t> To insert a row into </a:t>
            </a:r>
            <a:r>
              <a:rPr lang="en-US" b="1" dirty="0"/>
              <a:t>student </a:t>
            </a:r>
            <a:r>
              <a:rPr lang="en-US" dirty="0"/>
              <a:t>table, the insert statement will be written as follows.</a:t>
            </a:r>
            <a:endParaRPr lang="en-IN" dirty="0"/>
          </a:p>
          <a:p>
            <a:r>
              <a:rPr lang="en-US" b="1" dirty="0"/>
              <a:t>Insert into student values(1001,’SAI’,’SQL’)</a:t>
            </a:r>
            <a:endParaRPr lang="en-IN" dirty="0"/>
          </a:p>
          <a:p>
            <a:r>
              <a:rPr lang="en-US" b="1" dirty="0"/>
              <a:t>Ex 2 :</a:t>
            </a:r>
            <a:r>
              <a:rPr lang="en-US" dirty="0"/>
              <a:t> To insert a row into </a:t>
            </a:r>
            <a:r>
              <a:rPr lang="en-US" b="1" dirty="0"/>
              <a:t>Marks </a:t>
            </a:r>
            <a:r>
              <a:rPr lang="en-US" dirty="0"/>
              <a:t>table, the insert statement will be written as follows. In this example I don’t want to give values for total, average and grade columns. Hence I will specify </a:t>
            </a:r>
            <a:r>
              <a:rPr lang="en-US" b="1" dirty="0"/>
              <a:t>null </a:t>
            </a:r>
            <a:r>
              <a:rPr lang="en-US" dirty="0"/>
              <a:t>as the value for these columns.</a:t>
            </a:r>
            <a:endParaRPr lang="en-IN" dirty="0"/>
          </a:p>
          <a:p>
            <a:r>
              <a:rPr lang="en-US" dirty="0"/>
              <a:t>	</a:t>
            </a:r>
            <a:r>
              <a:rPr lang="en-US" b="1" dirty="0"/>
              <a:t>Insert into Marks Values(1001,55,77,66,null,null,null)</a:t>
            </a:r>
            <a:endParaRPr lang="en-IN" dirty="0"/>
          </a:p>
          <a:p>
            <a:endParaRPr lang="en-IN" dirty="0"/>
          </a:p>
        </p:txBody>
      </p:sp>
    </p:spTree>
    <p:extLst>
      <p:ext uri="{BB962C8B-B14F-4D97-AF65-F5344CB8AC3E}">
        <p14:creationId xmlns:p14="http://schemas.microsoft.com/office/powerpoint/2010/main" val="332943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5FA49-114A-4742-B850-4568921D3537}"/>
              </a:ext>
            </a:extLst>
          </p:cNvPr>
          <p:cNvSpPr>
            <a:spLocks noGrp="1"/>
          </p:cNvSpPr>
          <p:nvPr>
            <p:ph type="title"/>
          </p:nvPr>
        </p:nvSpPr>
        <p:spPr>
          <a:xfrm>
            <a:off x="838200" y="365125"/>
            <a:ext cx="10515600" cy="737811"/>
          </a:xfrm>
        </p:spPr>
        <p:txBody>
          <a:bodyPr/>
          <a:lstStyle/>
          <a:p>
            <a:r>
              <a:rPr lang="en-IN" dirty="0"/>
              <a:t>Cont..</a:t>
            </a:r>
          </a:p>
        </p:txBody>
      </p:sp>
      <p:sp>
        <p:nvSpPr>
          <p:cNvPr id="3" name="Content Placeholder 2">
            <a:extLst>
              <a:ext uri="{FF2B5EF4-FFF2-40B4-BE49-F238E27FC236}">
                <a16:creationId xmlns:a16="http://schemas.microsoft.com/office/drawing/2014/main" id="{CC376676-22A1-4F6C-B836-E9116FCAFA4E}"/>
              </a:ext>
            </a:extLst>
          </p:cNvPr>
          <p:cNvSpPr>
            <a:spLocks noGrp="1"/>
          </p:cNvSpPr>
          <p:nvPr>
            <p:ph idx="1"/>
          </p:nvPr>
        </p:nvSpPr>
        <p:spPr>
          <a:xfrm>
            <a:off x="838200" y="1102936"/>
            <a:ext cx="10515600" cy="5074027"/>
          </a:xfrm>
        </p:spPr>
        <p:txBody>
          <a:bodyPr>
            <a:normAutofit lnSpcReduction="10000"/>
          </a:bodyPr>
          <a:lstStyle/>
          <a:p>
            <a:r>
              <a:rPr lang="en-US" b="1" dirty="0"/>
              <a:t>2. Insert into </a:t>
            </a:r>
            <a:r>
              <a:rPr lang="en-US" b="1" dirty="0" err="1"/>
              <a:t>tablename</a:t>
            </a:r>
            <a:r>
              <a:rPr lang="en-US" b="1" dirty="0"/>
              <a:t>(Col1,Col2,Col3,…,</a:t>
            </a:r>
            <a:r>
              <a:rPr lang="en-US" b="1" dirty="0" err="1"/>
              <a:t>Coln</a:t>
            </a:r>
            <a:r>
              <a:rPr lang="en-US" b="1" dirty="0"/>
              <a:t>) values(Val1,Val2,Val3,…,</a:t>
            </a:r>
            <a:r>
              <a:rPr lang="en-US" b="1" dirty="0" err="1"/>
              <a:t>Valn</a:t>
            </a:r>
            <a:r>
              <a:rPr lang="en-US" b="1" dirty="0"/>
              <a:t>)</a:t>
            </a:r>
            <a:endParaRPr lang="en-IN" dirty="0"/>
          </a:p>
          <a:p>
            <a:r>
              <a:rPr lang="en-US" dirty="0"/>
              <a:t>	By using this syntax you can insert a row into a table without giving values for specified columns. But the columns you exclude must not contain </a:t>
            </a:r>
            <a:r>
              <a:rPr lang="en-US" b="1" dirty="0"/>
              <a:t>not null </a:t>
            </a:r>
            <a:r>
              <a:rPr lang="en-US" dirty="0"/>
              <a:t>constraint. Within the column list after the table name specify the names of columns for which you are providing values and then give values for those columns within the values list.</a:t>
            </a:r>
            <a:endParaRPr lang="en-IN" dirty="0"/>
          </a:p>
          <a:p>
            <a:r>
              <a:rPr lang="en-US" b="1" dirty="0"/>
              <a:t> </a:t>
            </a:r>
            <a:endParaRPr lang="en-IN" dirty="0"/>
          </a:p>
          <a:p>
            <a:r>
              <a:rPr lang="en-US" b="1" dirty="0"/>
              <a:t>Ex 1: </a:t>
            </a:r>
            <a:r>
              <a:rPr lang="en-US" dirty="0"/>
              <a:t>to insert a row into marks table without giving values for total, average, and grade columns, the insert statement will be written as follows.</a:t>
            </a:r>
            <a:endParaRPr lang="en-IN" dirty="0"/>
          </a:p>
          <a:p>
            <a:r>
              <a:rPr lang="en-US" dirty="0"/>
              <a:t>	</a:t>
            </a:r>
            <a:r>
              <a:rPr lang="en-US" b="1" dirty="0"/>
              <a:t>Insert into Marks(</a:t>
            </a:r>
            <a:r>
              <a:rPr lang="en-US" b="1" dirty="0" err="1"/>
              <a:t>Sid,c,cpp,sql</a:t>
            </a:r>
            <a:r>
              <a:rPr lang="en-US" b="1" dirty="0"/>
              <a:t>) values(1001,55,66,77)</a:t>
            </a:r>
            <a:endParaRPr lang="en-IN" dirty="0"/>
          </a:p>
          <a:p>
            <a:endParaRPr lang="en-IN" dirty="0"/>
          </a:p>
        </p:txBody>
      </p:sp>
    </p:spTree>
    <p:extLst>
      <p:ext uri="{BB962C8B-B14F-4D97-AF65-F5344CB8AC3E}">
        <p14:creationId xmlns:p14="http://schemas.microsoft.com/office/powerpoint/2010/main" val="2802115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8CD06-CCED-4A9A-83B6-5BD28BF734F2}"/>
              </a:ext>
            </a:extLst>
          </p:cNvPr>
          <p:cNvSpPr>
            <a:spLocks noGrp="1"/>
          </p:cNvSpPr>
          <p:nvPr>
            <p:ph type="title"/>
          </p:nvPr>
        </p:nvSpPr>
        <p:spPr/>
        <p:txBody>
          <a:bodyPr/>
          <a:lstStyle/>
          <a:p>
            <a:r>
              <a:rPr lang="en-IN" dirty="0"/>
              <a:t>Cont..</a:t>
            </a:r>
          </a:p>
        </p:txBody>
      </p:sp>
      <p:sp>
        <p:nvSpPr>
          <p:cNvPr id="3" name="Content Placeholder 2">
            <a:extLst>
              <a:ext uri="{FF2B5EF4-FFF2-40B4-BE49-F238E27FC236}">
                <a16:creationId xmlns:a16="http://schemas.microsoft.com/office/drawing/2014/main" id="{CD945BF8-D105-46AE-A6E9-B694F04F32D8}"/>
              </a:ext>
            </a:extLst>
          </p:cNvPr>
          <p:cNvSpPr>
            <a:spLocks noGrp="1"/>
          </p:cNvSpPr>
          <p:nvPr>
            <p:ph idx="1"/>
          </p:nvPr>
        </p:nvSpPr>
        <p:spPr/>
        <p:txBody>
          <a:bodyPr/>
          <a:lstStyle/>
          <a:p>
            <a:r>
              <a:rPr lang="en-US" b="1" dirty="0"/>
              <a:t>3. Insert into </a:t>
            </a:r>
            <a:r>
              <a:rPr lang="en-US" b="1" dirty="0" err="1"/>
              <a:t>tablename</a:t>
            </a:r>
            <a:r>
              <a:rPr lang="en-US" b="1" dirty="0"/>
              <a:t> select statement</a:t>
            </a:r>
            <a:endParaRPr lang="en-IN" dirty="0"/>
          </a:p>
          <a:p>
            <a:r>
              <a:rPr lang="en-US" b="1" dirty="0"/>
              <a:t>	</a:t>
            </a:r>
            <a:r>
              <a:rPr lang="en-US" dirty="0"/>
              <a:t>This syntax is used when we have to insert rows from an existing table in to a new table, provided no. of columns and their data types match in those two tables.[example require..]</a:t>
            </a:r>
            <a:endParaRPr lang="en-IN" dirty="0"/>
          </a:p>
          <a:p>
            <a:endParaRPr lang="en-IN" dirty="0"/>
          </a:p>
        </p:txBody>
      </p:sp>
    </p:spTree>
    <p:extLst>
      <p:ext uri="{BB962C8B-B14F-4D97-AF65-F5344CB8AC3E}">
        <p14:creationId xmlns:p14="http://schemas.microsoft.com/office/powerpoint/2010/main" val="3366459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B4878-154D-44DE-97C7-A49DE2208B1F}"/>
              </a:ext>
            </a:extLst>
          </p:cNvPr>
          <p:cNvSpPr>
            <a:spLocks noGrp="1"/>
          </p:cNvSpPr>
          <p:nvPr>
            <p:ph type="title"/>
          </p:nvPr>
        </p:nvSpPr>
        <p:spPr/>
        <p:txBody>
          <a:bodyPr/>
          <a:lstStyle/>
          <a:p>
            <a:r>
              <a:rPr lang="en-US" b="1" u="words" dirty="0"/>
              <a:t>Updating Data In The Table</a:t>
            </a:r>
            <a:endParaRPr lang="en-IN" dirty="0"/>
          </a:p>
        </p:txBody>
      </p:sp>
      <p:sp>
        <p:nvSpPr>
          <p:cNvPr id="3" name="Content Placeholder 2">
            <a:extLst>
              <a:ext uri="{FF2B5EF4-FFF2-40B4-BE49-F238E27FC236}">
                <a16:creationId xmlns:a16="http://schemas.microsoft.com/office/drawing/2014/main" id="{E57E6D65-18F8-4A3D-80F4-341A67706DD7}"/>
              </a:ext>
            </a:extLst>
          </p:cNvPr>
          <p:cNvSpPr>
            <a:spLocks noGrp="1"/>
          </p:cNvSpPr>
          <p:nvPr>
            <p:ph idx="1"/>
          </p:nvPr>
        </p:nvSpPr>
        <p:spPr/>
        <p:txBody>
          <a:bodyPr>
            <a:normAutofit/>
          </a:bodyPr>
          <a:lstStyle/>
          <a:p>
            <a:r>
              <a:rPr lang="en-US" dirty="0"/>
              <a:t>	When you want to make modifications to the data available in the table, you have to use </a:t>
            </a:r>
            <a:r>
              <a:rPr lang="en-US" b="1" dirty="0"/>
              <a:t>update </a:t>
            </a:r>
            <a:r>
              <a:rPr lang="en-US" dirty="0"/>
              <a:t>command. Update command has the following syntax.</a:t>
            </a:r>
            <a:endParaRPr lang="en-IN" dirty="0"/>
          </a:p>
          <a:p>
            <a:r>
              <a:rPr lang="en-US" b="1" dirty="0"/>
              <a:t>Update </a:t>
            </a:r>
            <a:r>
              <a:rPr lang="en-US" b="1" dirty="0" err="1"/>
              <a:t>tablename</a:t>
            </a:r>
            <a:r>
              <a:rPr lang="en-US" b="1" dirty="0"/>
              <a:t> set column1=val1,column2=val2,….,column=</a:t>
            </a:r>
            <a:r>
              <a:rPr lang="en-US" b="1" dirty="0" err="1"/>
              <a:t>valn</a:t>
            </a:r>
            <a:r>
              <a:rPr lang="en-US" b="1" dirty="0"/>
              <a:t> [where condition]</a:t>
            </a:r>
            <a:endParaRPr lang="en-IN" dirty="0"/>
          </a:p>
          <a:p>
            <a:r>
              <a:rPr lang="en-US" dirty="0"/>
              <a:t>	Specifying where clause is optional and when you didn’t specify the where clause then the modification will be made to every row in the table.</a:t>
            </a:r>
            <a:endParaRPr lang="en-IN" dirty="0"/>
          </a:p>
          <a:p>
            <a:endParaRPr lang="en-IN" dirty="0"/>
          </a:p>
        </p:txBody>
      </p:sp>
    </p:spTree>
    <p:extLst>
      <p:ext uri="{BB962C8B-B14F-4D97-AF65-F5344CB8AC3E}">
        <p14:creationId xmlns:p14="http://schemas.microsoft.com/office/powerpoint/2010/main" val="11363902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EF76E-133D-46C9-AABB-372E7347CAAD}"/>
              </a:ext>
            </a:extLst>
          </p:cNvPr>
          <p:cNvSpPr>
            <a:spLocks noGrp="1"/>
          </p:cNvSpPr>
          <p:nvPr>
            <p:ph type="title"/>
          </p:nvPr>
        </p:nvSpPr>
        <p:spPr/>
        <p:txBody>
          <a:bodyPr/>
          <a:lstStyle/>
          <a:p>
            <a:r>
              <a:rPr lang="en-IN" dirty="0"/>
              <a:t>Cont..</a:t>
            </a:r>
          </a:p>
        </p:txBody>
      </p:sp>
      <p:sp>
        <p:nvSpPr>
          <p:cNvPr id="3" name="Content Placeholder 2">
            <a:extLst>
              <a:ext uri="{FF2B5EF4-FFF2-40B4-BE49-F238E27FC236}">
                <a16:creationId xmlns:a16="http://schemas.microsoft.com/office/drawing/2014/main" id="{4013676C-E215-410E-8E6E-D88EDB544523}"/>
              </a:ext>
            </a:extLst>
          </p:cNvPr>
          <p:cNvSpPr>
            <a:spLocks noGrp="1"/>
          </p:cNvSpPr>
          <p:nvPr>
            <p:ph idx="1"/>
          </p:nvPr>
        </p:nvSpPr>
        <p:spPr/>
        <p:txBody>
          <a:bodyPr/>
          <a:lstStyle/>
          <a:p>
            <a:r>
              <a:rPr lang="en-US" b="1" dirty="0"/>
              <a:t>Ex 1: </a:t>
            </a:r>
            <a:r>
              <a:rPr lang="en-US" dirty="0"/>
              <a:t>To update the course of a student with </a:t>
            </a:r>
            <a:r>
              <a:rPr lang="en-US" dirty="0" err="1"/>
              <a:t>sid</a:t>
            </a:r>
            <a:r>
              <a:rPr lang="en-US" dirty="0"/>
              <a:t> 1002 to SQL, the update command will be as follows.</a:t>
            </a:r>
            <a:endParaRPr lang="en-IN" dirty="0"/>
          </a:p>
          <a:p>
            <a:r>
              <a:rPr lang="en-US" dirty="0"/>
              <a:t>	</a:t>
            </a:r>
            <a:r>
              <a:rPr lang="en-US" b="1" dirty="0"/>
              <a:t>Update Student set course=’SQL’ where </a:t>
            </a:r>
            <a:r>
              <a:rPr lang="en-US" b="1" dirty="0" err="1"/>
              <a:t>sid</a:t>
            </a:r>
            <a:r>
              <a:rPr lang="en-US" b="1" dirty="0"/>
              <a:t>=1002</a:t>
            </a:r>
            <a:endParaRPr lang="en-IN" dirty="0"/>
          </a:p>
          <a:p>
            <a:r>
              <a:rPr lang="en-US" b="1" dirty="0"/>
              <a:t>Ex 2: </a:t>
            </a:r>
            <a:r>
              <a:rPr lang="en-US" dirty="0"/>
              <a:t>To update rows in marks table by calculating total, average columns, the update statement will be as follows.</a:t>
            </a:r>
            <a:endParaRPr lang="en-IN" dirty="0"/>
          </a:p>
          <a:p>
            <a:r>
              <a:rPr lang="en-US" dirty="0"/>
              <a:t>	</a:t>
            </a:r>
            <a:r>
              <a:rPr lang="en-US" b="1" dirty="0"/>
              <a:t>Update Marks Set Total = </a:t>
            </a:r>
            <a:r>
              <a:rPr lang="en-US" b="1" dirty="0" err="1"/>
              <a:t>C+Cpp+Sql</a:t>
            </a:r>
            <a:r>
              <a:rPr lang="en-US" b="1" dirty="0"/>
              <a:t>, Average = (</a:t>
            </a:r>
            <a:r>
              <a:rPr lang="en-US" b="1" dirty="0" err="1"/>
              <a:t>C+Cpp+Sql</a:t>
            </a:r>
            <a:r>
              <a:rPr lang="en-US" b="1" dirty="0"/>
              <a:t>)/3</a:t>
            </a:r>
            <a:endParaRPr lang="en-IN" dirty="0"/>
          </a:p>
          <a:p>
            <a:endParaRPr lang="en-IN" dirty="0"/>
          </a:p>
        </p:txBody>
      </p:sp>
    </p:spTree>
    <p:extLst>
      <p:ext uri="{BB962C8B-B14F-4D97-AF65-F5344CB8AC3E}">
        <p14:creationId xmlns:p14="http://schemas.microsoft.com/office/powerpoint/2010/main" val="1896690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D23BF-555C-4939-9D71-A5A7E498C91A}"/>
              </a:ext>
            </a:extLst>
          </p:cNvPr>
          <p:cNvSpPr>
            <a:spLocks noGrp="1"/>
          </p:cNvSpPr>
          <p:nvPr>
            <p:ph type="title"/>
          </p:nvPr>
        </p:nvSpPr>
        <p:spPr>
          <a:xfrm>
            <a:off x="838200" y="365126"/>
            <a:ext cx="10515600" cy="860360"/>
          </a:xfrm>
        </p:spPr>
        <p:txBody>
          <a:bodyPr/>
          <a:lstStyle/>
          <a:p>
            <a:r>
              <a:rPr lang="en-IN" dirty="0"/>
              <a:t>Cont..</a:t>
            </a:r>
          </a:p>
        </p:txBody>
      </p:sp>
      <p:sp>
        <p:nvSpPr>
          <p:cNvPr id="3" name="Content Placeholder 2">
            <a:extLst>
              <a:ext uri="{FF2B5EF4-FFF2-40B4-BE49-F238E27FC236}">
                <a16:creationId xmlns:a16="http://schemas.microsoft.com/office/drawing/2014/main" id="{A26BCD1C-390C-4779-B720-50DC4D7F43B0}"/>
              </a:ext>
            </a:extLst>
          </p:cNvPr>
          <p:cNvSpPr>
            <a:spLocks noGrp="1"/>
          </p:cNvSpPr>
          <p:nvPr>
            <p:ph idx="1"/>
          </p:nvPr>
        </p:nvSpPr>
        <p:spPr>
          <a:xfrm>
            <a:off x="838200" y="1225486"/>
            <a:ext cx="10515600" cy="4951477"/>
          </a:xfrm>
        </p:spPr>
        <p:txBody>
          <a:bodyPr>
            <a:normAutofit fontScale="92500" lnSpcReduction="10000"/>
          </a:bodyPr>
          <a:lstStyle/>
          <a:p>
            <a:r>
              <a:rPr lang="en-US" b="1" dirty="0"/>
              <a:t>Ex 3: </a:t>
            </a:r>
            <a:r>
              <a:rPr lang="en-US" dirty="0"/>
              <a:t>To update marks table by calculating grade, the update statement will be as follows. SQL server provides case statement to check for a condition and then execute the statements within update command and this update statement will use </a:t>
            </a:r>
            <a:r>
              <a:rPr lang="en-US" b="1" dirty="0"/>
              <a:t>case </a:t>
            </a:r>
            <a:r>
              <a:rPr lang="en-US" dirty="0"/>
              <a:t>to update grade based on average marks of the student.</a:t>
            </a:r>
            <a:endParaRPr lang="en-IN" dirty="0"/>
          </a:p>
          <a:p>
            <a:pPr marL="0" indent="0">
              <a:buNone/>
            </a:pPr>
            <a:r>
              <a:rPr lang="en-US" b="1" dirty="0"/>
              <a:t>	Update Marks set Grade = case</a:t>
            </a:r>
            <a:endParaRPr lang="en-IN" dirty="0"/>
          </a:p>
          <a:p>
            <a:pPr marL="0" indent="0">
              <a:buNone/>
            </a:pPr>
            <a:r>
              <a:rPr lang="en-US" b="1" dirty="0"/>
              <a:t>					When Average&gt;=90 then ‘DISTINCTION’</a:t>
            </a:r>
            <a:endParaRPr lang="en-IN" dirty="0"/>
          </a:p>
          <a:p>
            <a:pPr marL="0" indent="0">
              <a:buNone/>
            </a:pPr>
            <a:r>
              <a:rPr lang="en-US" b="1" dirty="0"/>
              <a:t>					When Average&gt;=70 then ‘FIRST CLASS’</a:t>
            </a:r>
            <a:endParaRPr lang="en-IN" dirty="0"/>
          </a:p>
          <a:p>
            <a:pPr marL="0" indent="0">
              <a:buNone/>
            </a:pPr>
            <a:r>
              <a:rPr lang="en-US" b="1" dirty="0"/>
              <a:t>					When Average&gt;=55 then ‘SECOND CLASS’</a:t>
            </a:r>
            <a:endParaRPr lang="en-IN" dirty="0"/>
          </a:p>
          <a:p>
            <a:pPr marL="0" indent="0">
              <a:buNone/>
            </a:pPr>
            <a:r>
              <a:rPr lang="en-US" b="1" dirty="0"/>
              <a:t>					When Average&gt;=35 then ‘THIRD CLASS’</a:t>
            </a:r>
            <a:endParaRPr lang="en-IN" dirty="0"/>
          </a:p>
          <a:p>
            <a:pPr marL="0" indent="0">
              <a:buNone/>
            </a:pPr>
            <a:r>
              <a:rPr lang="en-US" b="1" dirty="0"/>
              <a:t>					Else ‘FAIL’</a:t>
            </a:r>
            <a:endParaRPr lang="en-IN" dirty="0"/>
          </a:p>
          <a:p>
            <a:pPr marL="0" indent="0">
              <a:buNone/>
            </a:pPr>
            <a:r>
              <a:rPr lang="en-US" b="1" dirty="0"/>
              <a:t>				       End</a:t>
            </a:r>
            <a:endParaRPr lang="en-IN" dirty="0"/>
          </a:p>
          <a:p>
            <a:endParaRPr lang="en-IN" dirty="0"/>
          </a:p>
        </p:txBody>
      </p:sp>
    </p:spTree>
    <p:extLst>
      <p:ext uri="{BB962C8B-B14F-4D97-AF65-F5344CB8AC3E}">
        <p14:creationId xmlns:p14="http://schemas.microsoft.com/office/powerpoint/2010/main" val="1914564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691D-F971-4D07-B2C6-BF323A5814F0}"/>
              </a:ext>
            </a:extLst>
          </p:cNvPr>
          <p:cNvSpPr>
            <a:spLocks noGrp="1"/>
          </p:cNvSpPr>
          <p:nvPr>
            <p:ph type="title"/>
          </p:nvPr>
        </p:nvSpPr>
        <p:spPr>
          <a:xfrm>
            <a:off x="838200" y="365126"/>
            <a:ext cx="10515600" cy="775518"/>
          </a:xfrm>
        </p:spPr>
        <p:txBody>
          <a:bodyPr/>
          <a:lstStyle/>
          <a:p>
            <a:r>
              <a:rPr lang="en-IN" dirty="0"/>
              <a:t>Cont..</a:t>
            </a:r>
          </a:p>
        </p:txBody>
      </p:sp>
      <p:sp>
        <p:nvSpPr>
          <p:cNvPr id="3" name="Content Placeholder 2">
            <a:extLst>
              <a:ext uri="{FF2B5EF4-FFF2-40B4-BE49-F238E27FC236}">
                <a16:creationId xmlns:a16="http://schemas.microsoft.com/office/drawing/2014/main" id="{EB24CA22-7994-4FFA-8CB7-57B2F4824FAC}"/>
              </a:ext>
            </a:extLst>
          </p:cNvPr>
          <p:cNvSpPr>
            <a:spLocks noGrp="1"/>
          </p:cNvSpPr>
          <p:nvPr>
            <p:ph idx="1"/>
          </p:nvPr>
        </p:nvSpPr>
        <p:spPr>
          <a:xfrm>
            <a:off x="838200" y="1074656"/>
            <a:ext cx="10515600" cy="5102307"/>
          </a:xfrm>
        </p:spPr>
        <p:txBody>
          <a:bodyPr>
            <a:normAutofit fontScale="85000" lnSpcReduction="20000"/>
          </a:bodyPr>
          <a:lstStyle/>
          <a:p>
            <a:r>
              <a:rPr lang="en-US" b="1" dirty="0"/>
              <a:t>Note : </a:t>
            </a:r>
            <a:r>
              <a:rPr lang="en-US" dirty="0"/>
              <a:t>SQL Server supports calculated columns. Calculated columns are the columns for which values are calculated automatically based on expressions given for those columns during the table creation. For example to create marks table with total and average as calculated columns, the create table statement will be as follows.</a:t>
            </a:r>
            <a:endParaRPr lang="en-IN" dirty="0"/>
          </a:p>
          <a:p>
            <a:pPr marL="0" indent="0">
              <a:buNone/>
            </a:pPr>
            <a:r>
              <a:rPr lang="en-US" dirty="0"/>
              <a:t>	</a:t>
            </a:r>
            <a:r>
              <a:rPr lang="en-US" b="1" dirty="0"/>
              <a:t>Create table Marks</a:t>
            </a:r>
            <a:endParaRPr lang="en-IN" dirty="0"/>
          </a:p>
          <a:p>
            <a:pPr marL="0" indent="0">
              <a:buNone/>
            </a:pPr>
            <a:r>
              <a:rPr lang="en-US" b="1" dirty="0"/>
              <a:t>	(SID </a:t>
            </a:r>
            <a:r>
              <a:rPr lang="en-US" b="1" dirty="0" err="1"/>
              <a:t>smallint</a:t>
            </a:r>
            <a:r>
              <a:rPr lang="en-US" b="1" dirty="0"/>
              <a:t> constraint </a:t>
            </a:r>
            <a:r>
              <a:rPr lang="en-US" b="1" dirty="0" err="1"/>
              <a:t>SID_Fk</a:t>
            </a:r>
            <a:r>
              <a:rPr lang="en-US" b="1" dirty="0"/>
              <a:t> references Student(SID),</a:t>
            </a:r>
            <a:endParaRPr lang="en-IN" dirty="0"/>
          </a:p>
          <a:p>
            <a:pPr marL="0" indent="0">
              <a:buNone/>
            </a:pPr>
            <a:r>
              <a:rPr lang="en-US" b="1" dirty="0"/>
              <a:t>	C </a:t>
            </a:r>
            <a:r>
              <a:rPr lang="en-US" b="1" dirty="0" err="1"/>
              <a:t>Tinyint</a:t>
            </a:r>
            <a:r>
              <a:rPr lang="en-US" b="1" dirty="0"/>
              <a:t>,</a:t>
            </a:r>
            <a:endParaRPr lang="en-IN" dirty="0"/>
          </a:p>
          <a:p>
            <a:pPr marL="0" indent="0">
              <a:buNone/>
            </a:pPr>
            <a:r>
              <a:rPr lang="en-US" b="1" dirty="0"/>
              <a:t>	</a:t>
            </a:r>
            <a:r>
              <a:rPr lang="en-US" b="1" dirty="0" err="1"/>
              <a:t>Cpp</a:t>
            </a:r>
            <a:r>
              <a:rPr lang="en-US" b="1" dirty="0"/>
              <a:t> </a:t>
            </a:r>
            <a:r>
              <a:rPr lang="en-US" b="1" dirty="0" err="1"/>
              <a:t>Tinyint</a:t>
            </a:r>
            <a:r>
              <a:rPr lang="en-US" b="1" dirty="0"/>
              <a:t>,</a:t>
            </a:r>
            <a:endParaRPr lang="en-IN" dirty="0"/>
          </a:p>
          <a:p>
            <a:pPr marL="0" indent="0">
              <a:buNone/>
            </a:pPr>
            <a:r>
              <a:rPr lang="en-US" b="1" dirty="0"/>
              <a:t>	SQL </a:t>
            </a:r>
            <a:r>
              <a:rPr lang="en-US" b="1" dirty="0" err="1"/>
              <a:t>Tinyint</a:t>
            </a:r>
            <a:r>
              <a:rPr lang="en-US" b="1" dirty="0"/>
              <a:t>,</a:t>
            </a:r>
            <a:endParaRPr lang="en-IN" dirty="0"/>
          </a:p>
          <a:p>
            <a:pPr marL="0" indent="0">
              <a:buNone/>
            </a:pPr>
            <a:r>
              <a:rPr lang="en-US" b="1" dirty="0"/>
              <a:t>	Total as </a:t>
            </a:r>
            <a:r>
              <a:rPr lang="en-US" b="1" dirty="0" err="1"/>
              <a:t>C+Cpp+SQL</a:t>
            </a:r>
            <a:r>
              <a:rPr lang="en-US" b="1" dirty="0"/>
              <a:t>,</a:t>
            </a:r>
            <a:endParaRPr lang="en-IN" dirty="0"/>
          </a:p>
          <a:p>
            <a:pPr marL="0" indent="0">
              <a:buNone/>
            </a:pPr>
            <a:r>
              <a:rPr lang="en-US" b="1" dirty="0"/>
              <a:t>	Average as (</a:t>
            </a:r>
            <a:r>
              <a:rPr lang="en-US" b="1" dirty="0" err="1"/>
              <a:t>C+Cpp+SQL</a:t>
            </a:r>
            <a:r>
              <a:rPr lang="en-US" b="1" dirty="0"/>
              <a:t>)/3,</a:t>
            </a:r>
            <a:endParaRPr lang="en-IN" dirty="0"/>
          </a:p>
          <a:p>
            <a:pPr marL="0" indent="0">
              <a:buNone/>
            </a:pPr>
            <a:r>
              <a:rPr lang="en-US" b="1" dirty="0"/>
              <a:t>Grade varchar(30)</a:t>
            </a:r>
            <a:endParaRPr lang="en-IN" dirty="0"/>
          </a:p>
          <a:p>
            <a:pPr marL="0" indent="0">
              <a:buNone/>
            </a:pPr>
            <a:r>
              <a:rPr lang="en-US" b="1" dirty="0"/>
              <a:t>)</a:t>
            </a:r>
            <a:endParaRPr lang="en-IN" dirty="0"/>
          </a:p>
          <a:p>
            <a:endParaRPr lang="en-IN" dirty="0"/>
          </a:p>
        </p:txBody>
      </p:sp>
    </p:spTree>
    <p:extLst>
      <p:ext uri="{BB962C8B-B14F-4D97-AF65-F5344CB8AC3E}">
        <p14:creationId xmlns:p14="http://schemas.microsoft.com/office/powerpoint/2010/main" val="975078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7BC8E-9BCA-4062-9788-D1969377E0DD}"/>
              </a:ext>
            </a:extLst>
          </p:cNvPr>
          <p:cNvSpPr>
            <a:spLocks noGrp="1"/>
          </p:cNvSpPr>
          <p:nvPr>
            <p:ph type="title"/>
          </p:nvPr>
        </p:nvSpPr>
        <p:spPr>
          <a:xfrm>
            <a:off x="838200" y="365125"/>
            <a:ext cx="10515600" cy="803799"/>
          </a:xfrm>
        </p:spPr>
        <p:txBody>
          <a:bodyPr/>
          <a:lstStyle/>
          <a:p>
            <a:r>
              <a:rPr lang="en-US" b="1" u="words" dirty="0"/>
              <a:t>Deleting Data From The Table</a:t>
            </a:r>
            <a:endParaRPr lang="en-IN" dirty="0"/>
          </a:p>
        </p:txBody>
      </p:sp>
      <p:sp>
        <p:nvSpPr>
          <p:cNvPr id="3" name="Content Placeholder 2">
            <a:extLst>
              <a:ext uri="{FF2B5EF4-FFF2-40B4-BE49-F238E27FC236}">
                <a16:creationId xmlns:a16="http://schemas.microsoft.com/office/drawing/2014/main" id="{B930C6BC-B2E5-4111-A62B-E71DFDE7D488}"/>
              </a:ext>
            </a:extLst>
          </p:cNvPr>
          <p:cNvSpPr>
            <a:spLocks noGrp="1"/>
          </p:cNvSpPr>
          <p:nvPr>
            <p:ph idx="1"/>
          </p:nvPr>
        </p:nvSpPr>
        <p:spPr>
          <a:xfrm>
            <a:off x="838200" y="1168924"/>
            <a:ext cx="10515600" cy="5008039"/>
          </a:xfrm>
        </p:spPr>
        <p:txBody>
          <a:bodyPr>
            <a:normAutofit lnSpcReduction="10000"/>
          </a:bodyPr>
          <a:lstStyle/>
          <a:p>
            <a:r>
              <a:rPr lang="en-US" dirty="0"/>
              <a:t>	When you want to delete a row or rows from the table then you can use </a:t>
            </a:r>
            <a:r>
              <a:rPr lang="en-US" b="1" dirty="0"/>
              <a:t>delete </a:t>
            </a:r>
            <a:r>
              <a:rPr lang="en-US" dirty="0"/>
              <a:t>command. Delete command has the following syntax.</a:t>
            </a:r>
            <a:endParaRPr lang="en-IN" dirty="0"/>
          </a:p>
          <a:p>
            <a:r>
              <a:rPr lang="en-US" b="1" dirty="0"/>
              <a:t>	Delete [From] </a:t>
            </a:r>
            <a:r>
              <a:rPr lang="en-US" b="1" dirty="0" err="1"/>
              <a:t>tableName</a:t>
            </a:r>
            <a:r>
              <a:rPr lang="en-US" b="1" dirty="0"/>
              <a:t> [where Condition]</a:t>
            </a:r>
            <a:endParaRPr lang="en-IN" dirty="0"/>
          </a:p>
          <a:p>
            <a:r>
              <a:rPr lang="en-US" b="1" dirty="0"/>
              <a:t>	</a:t>
            </a:r>
            <a:r>
              <a:rPr lang="en-US" dirty="0"/>
              <a:t>Here also specifying where clause is optional and when you didn’t specify the where clause, every row in the table will be deleted.</a:t>
            </a:r>
            <a:endParaRPr lang="en-IN" dirty="0"/>
          </a:p>
          <a:p>
            <a:r>
              <a:rPr lang="en-US" b="1" dirty="0"/>
              <a:t>Ex 1: </a:t>
            </a:r>
            <a:r>
              <a:rPr lang="en-US" dirty="0"/>
              <a:t>To delete a row from student table, whose SID is 1002, the delete statement will be as follows.</a:t>
            </a:r>
            <a:endParaRPr lang="en-IN" dirty="0"/>
          </a:p>
          <a:p>
            <a:r>
              <a:rPr lang="en-US" dirty="0"/>
              <a:t>	</a:t>
            </a:r>
            <a:r>
              <a:rPr lang="en-US" b="1" dirty="0"/>
              <a:t>Delete Student Where SID=1002</a:t>
            </a:r>
            <a:endParaRPr lang="en-IN" dirty="0"/>
          </a:p>
          <a:p>
            <a:r>
              <a:rPr lang="en-US" b="1" dirty="0"/>
              <a:t>Ex 2: </a:t>
            </a:r>
            <a:r>
              <a:rPr lang="en-US" dirty="0"/>
              <a:t>To delete all rows from marks table, the delete statement will be as follows.</a:t>
            </a:r>
            <a:endParaRPr lang="en-IN" dirty="0"/>
          </a:p>
          <a:p>
            <a:r>
              <a:rPr lang="en-US" dirty="0"/>
              <a:t>	</a:t>
            </a:r>
            <a:r>
              <a:rPr lang="en-US" b="1" dirty="0"/>
              <a:t>Delete Marks</a:t>
            </a:r>
            <a:endParaRPr lang="en-IN" dirty="0"/>
          </a:p>
          <a:p>
            <a:endParaRPr lang="en-IN" dirty="0"/>
          </a:p>
        </p:txBody>
      </p:sp>
    </p:spTree>
    <p:extLst>
      <p:ext uri="{BB962C8B-B14F-4D97-AF65-F5344CB8AC3E}">
        <p14:creationId xmlns:p14="http://schemas.microsoft.com/office/powerpoint/2010/main" val="3093281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A7574-F347-40BE-B4BE-74D6F65A5E46}"/>
              </a:ext>
            </a:extLst>
          </p:cNvPr>
          <p:cNvSpPr>
            <a:spLocks noGrp="1"/>
          </p:cNvSpPr>
          <p:nvPr>
            <p:ph type="title"/>
          </p:nvPr>
        </p:nvSpPr>
        <p:spPr>
          <a:xfrm>
            <a:off x="838200" y="365126"/>
            <a:ext cx="10515600" cy="887770"/>
          </a:xfrm>
        </p:spPr>
        <p:txBody>
          <a:bodyPr/>
          <a:lstStyle/>
          <a:p>
            <a:r>
              <a:rPr lang="en-US" b="1" u="words" dirty="0"/>
              <a:t>Truncate Command</a:t>
            </a:r>
            <a:endParaRPr lang="en-IN" dirty="0"/>
          </a:p>
        </p:txBody>
      </p:sp>
      <p:sp>
        <p:nvSpPr>
          <p:cNvPr id="3" name="Content Placeholder 2">
            <a:extLst>
              <a:ext uri="{FF2B5EF4-FFF2-40B4-BE49-F238E27FC236}">
                <a16:creationId xmlns:a16="http://schemas.microsoft.com/office/drawing/2014/main" id="{778AE6CC-0B67-4C1D-B42E-EA1948CB1E9D}"/>
              </a:ext>
            </a:extLst>
          </p:cNvPr>
          <p:cNvSpPr>
            <a:spLocks noGrp="1"/>
          </p:cNvSpPr>
          <p:nvPr>
            <p:ph idx="1"/>
          </p:nvPr>
        </p:nvSpPr>
        <p:spPr>
          <a:xfrm>
            <a:off x="838200" y="1252896"/>
            <a:ext cx="10515600" cy="4924067"/>
          </a:xfrm>
        </p:spPr>
        <p:txBody>
          <a:bodyPr/>
          <a:lstStyle/>
          <a:p>
            <a:r>
              <a:rPr lang="en-US" dirty="0"/>
              <a:t>	For deleting rows from a table you can also use truncate command. Differences between delete and truncate commands are as follows. </a:t>
            </a:r>
            <a:r>
              <a:rPr lang="en-US" b="1" u="words" dirty="0"/>
              <a:t>Syntax </a:t>
            </a:r>
            <a:r>
              <a:rPr lang="en-US" b="1" dirty="0"/>
              <a:t>: </a:t>
            </a:r>
            <a:r>
              <a:rPr lang="en-US" b="1" dirty="0" err="1"/>
              <a:t>Trucate</a:t>
            </a:r>
            <a:r>
              <a:rPr lang="en-US" b="1" dirty="0"/>
              <a:t> table </a:t>
            </a:r>
            <a:r>
              <a:rPr lang="en-US" b="1" dirty="0" err="1"/>
              <a:t>TableName</a:t>
            </a:r>
            <a:endParaRPr lang="en-IN" dirty="0"/>
          </a:p>
          <a:p>
            <a:endParaRPr lang="en-IN" dirty="0"/>
          </a:p>
          <a:p>
            <a:endParaRPr lang="en-IN" dirty="0"/>
          </a:p>
        </p:txBody>
      </p:sp>
      <p:graphicFrame>
        <p:nvGraphicFramePr>
          <p:cNvPr id="4" name="Table 3">
            <a:extLst>
              <a:ext uri="{FF2B5EF4-FFF2-40B4-BE49-F238E27FC236}">
                <a16:creationId xmlns:a16="http://schemas.microsoft.com/office/drawing/2014/main" id="{3C8872E9-E638-442C-833E-6648C8B96479}"/>
              </a:ext>
            </a:extLst>
          </p:cNvPr>
          <p:cNvGraphicFramePr>
            <a:graphicFrameLocks noGrp="1"/>
          </p:cNvGraphicFramePr>
          <p:nvPr/>
        </p:nvGraphicFramePr>
        <p:xfrm>
          <a:off x="1055802" y="2596878"/>
          <a:ext cx="9813303" cy="3700328"/>
        </p:xfrm>
        <a:graphic>
          <a:graphicData uri="http://schemas.openxmlformats.org/drawingml/2006/table">
            <a:tbl>
              <a:tblPr>
                <a:tableStyleId>{5C22544A-7EE6-4342-B048-85BDC9FD1C3A}</a:tableStyleId>
              </a:tblPr>
              <a:tblGrid>
                <a:gridCol w="4603968">
                  <a:extLst>
                    <a:ext uri="{9D8B030D-6E8A-4147-A177-3AD203B41FA5}">
                      <a16:colId xmlns:a16="http://schemas.microsoft.com/office/drawing/2014/main" val="3749406762"/>
                    </a:ext>
                  </a:extLst>
                </a:gridCol>
                <a:gridCol w="5209335">
                  <a:extLst>
                    <a:ext uri="{9D8B030D-6E8A-4147-A177-3AD203B41FA5}">
                      <a16:colId xmlns:a16="http://schemas.microsoft.com/office/drawing/2014/main" val="2705450416"/>
                    </a:ext>
                  </a:extLst>
                </a:gridCol>
              </a:tblGrid>
              <a:tr h="527776">
                <a:tc>
                  <a:txBody>
                    <a:bodyPr/>
                    <a:lstStyle/>
                    <a:p>
                      <a:pPr algn="ctr">
                        <a:lnSpc>
                          <a:spcPct val="150000"/>
                        </a:lnSpc>
                        <a:spcAft>
                          <a:spcPts val="0"/>
                        </a:spcAft>
                      </a:pPr>
                      <a:r>
                        <a:rPr lang="en-US" sz="2000" dirty="0">
                          <a:effectLst/>
                        </a:rPr>
                        <a:t>Delete</a:t>
                      </a:r>
                      <a:endParaRPr lang="en-IN" sz="2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US" sz="2000">
                          <a:effectLst/>
                        </a:rPr>
                        <a:t>Truncate</a:t>
                      </a:r>
                      <a:endParaRPr lang="en-IN" sz="2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27425378"/>
                  </a:ext>
                </a:extLst>
              </a:tr>
              <a:tr h="1679207">
                <a:tc>
                  <a:txBody>
                    <a:bodyPr/>
                    <a:lstStyle/>
                    <a:p>
                      <a:pPr>
                        <a:lnSpc>
                          <a:spcPct val="150000"/>
                        </a:lnSpc>
                        <a:spcAft>
                          <a:spcPts val="0"/>
                        </a:spcAft>
                      </a:pPr>
                      <a:r>
                        <a:rPr lang="en-US" sz="2000" dirty="0">
                          <a:effectLst/>
                        </a:rPr>
                        <a:t>You can delete only specified rows using where clause</a:t>
                      </a:r>
                      <a:endParaRPr lang="en-IN" sz="2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50000"/>
                        </a:lnSpc>
                        <a:spcAft>
                          <a:spcPts val="0"/>
                        </a:spcAft>
                      </a:pPr>
                      <a:r>
                        <a:rPr lang="en-US" sz="2000" dirty="0">
                          <a:effectLst/>
                        </a:rPr>
                        <a:t>It is not possible to delete specified rows from the table as this command doesn’t support where clause and this command is used only when you want to delete all rows from a table.</a:t>
                      </a:r>
                      <a:endParaRPr lang="en-IN" sz="2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69133264"/>
                  </a:ext>
                </a:extLst>
              </a:tr>
              <a:tr h="527776">
                <a:tc>
                  <a:txBody>
                    <a:bodyPr/>
                    <a:lstStyle/>
                    <a:p>
                      <a:pPr>
                        <a:lnSpc>
                          <a:spcPct val="150000"/>
                        </a:lnSpc>
                        <a:spcAft>
                          <a:spcPts val="0"/>
                        </a:spcAft>
                      </a:pPr>
                      <a:r>
                        <a:rPr lang="en-US" sz="2000">
                          <a:effectLst/>
                        </a:rPr>
                        <a:t>Deletes rows one by one</a:t>
                      </a:r>
                      <a:endParaRPr lang="en-IN" sz="2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50000"/>
                        </a:lnSpc>
                        <a:spcAft>
                          <a:spcPts val="0"/>
                        </a:spcAft>
                      </a:pPr>
                      <a:r>
                        <a:rPr lang="en-US" sz="2000" dirty="0">
                          <a:effectLst/>
                        </a:rPr>
                        <a:t>Deletes rows page by page. Hence deletion will be fast.</a:t>
                      </a:r>
                      <a:endParaRPr lang="en-IN" sz="2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12117819"/>
                  </a:ext>
                </a:extLst>
              </a:tr>
              <a:tr h="527776">
                <a:tc>
                  <a:txBody>
                    <a:bodyPr/>
                    <a:lstStyle/>
                    <a:p>
                      <a:pPr>
                        <a:lnSpc>
                          <a:spcPct val="150000"/>
                        </a:lnSpc>
                        <a:spcAft>
                          <a:spcPts val="0"/>
                        </a:spcAft>
                      </a:pPr>
                      <a:r>
                        <a:rPr lang="en-US" sz="2000">
                          <a:effectLst/>
                        </a:rPr>
                        <a:t>Deleted rows can be rollback.</a:t>
                      </a:r>
                      <a:endParaRPr lang="en-IN" sz="20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50000"/>
                        </a:lnSpc>
                        <a:spcAft>
                          <a:spcPts val="0"/>
                        </a:spcAft>
                      </a:pPr>
                      <a:r>
                        <a:rPr lang="en-US" sz="2000" dirty="0">
                          <a:effectLst/>
                        </a:rPr>
                        <a:t>Deleted rows can’t be rollback.</a:t>
                      </a:r>
                      <a:endParaRPr lang="en-IN" sz="20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9474765"/>
                  </a:ext>
                </a:extLst>
              </a:tr>
            </a:tbl>
          </a:graphicData>
        </a:graphic>
      </p:graphicFrame>
    </p:spTree>
    <p:extLst>
      <p:ext uri="{BB962C8B-B14F-4D97-AF65-F5344CB8AC3E}">
        <p14:creationId xmlns:p14="http://schemas.microsoft.com/office/powerpoint/2010/main" val="1055526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E0257-283B-4F40-BD8F-5ECC512064AF}"/>
              </a:ext>
            </a:extLst>
          </p:cNvPr>
          <p:cNvSpPr>
            <a:spLocks noGrp="1"/>
          </p:cNvSpPr>
          <p:nvPr>
            <p:ph type="title"/>
          </p:nvPr>
        </p:nvSpPr>
        <p:spPr>
          <a:xfrm>
            <a:off x="838200" y="365126"/>
            <a:ext cx="10515600" cy="728384"/>
          </a:xfrm>
        </p:spPr>
        <p:txBody>
          <a:bodyPr/>
          <a:lstStyle/>
          <a:p>
            <a:r>
              <a:rPr lang="en-US" b="1" u="words" dirty="0" err="1"/>
              <a:t>Retreiving</a:t>
            </a:r>
            <a:r>
              <a:rPr lang="en-US" b="1" u="words" dirty="0"/>
              <a:t> Data</a:t>
            </a:r>
            <a:endParaRPr lang="en-IN" dirty="0"/>
          </a:p>
        </p:txBody>
      </p:sp>
      <p:sp>
        <p:nvSpPr>
          <p:cNvPr id="3" name="Content Placeholder 2">
            <a:extLst>
              <a:ext uri="{FF2B5EF4-FFF2-40B4-BE49-F238E27FC236}">
                <a16:creationId xmlns:a16="http://schemas.microsoft.com/office/drawing/2014/main" id="{80F69D53-DC30-486E-AD81-CF088F85DDEE}"/>
              </a:ext>
            </a:extLst>
          </p:cNvPr>
          <p:cNvSpPr>
            <a:spLocks noGrp="1"/>
          </p:cNvSpPr>
          <p:nvPr>
            <p:ph idx="1"/>
          </p:nvPr>
        </p:nvSpPr>
        <p:spPr>
          <a:xfrm>
            <a:off x="838200" y="1093510"/>
            <a:ext cx="10515600" cy="5083453"/>
          </a:xfrm>
        </p:spPr>
        <p:txBody>
          <a:bodyPr>
            <a:normAutofit fontScale="92500" lnSpcReduction="20000"/>
          </a:bodyPr>
          <a:lstStyle/>
          <a:p>
            <a:r>
              <a:rPr lang="en-US" dirty="0"/>
              <a:t>	A statement that requests data from the database is called as a query. In SQL select statement is used to retrieve data from the database and hence the select statement is called as a query. Select statement has the following syntaxes.</a:t>
            </a:r>
            <a:endParaRPr lang="en-IN" dirty="0"/>
          </a:p>
          <a:p>
            <a:r>
              <a:rPr lang="en-US" b="1" dirty="0"/>
              <a:t>1. Select * From </a:t>
            </a:r>
            <a:r>
              <a:rPr lang="en-US" b="1" dirty="0" err="1"/>
              <a:t>TableName</a:t>
            </a:r>
            <a:endParaRPr lang="en-IN" dirty="0"/>
          </a:p>
          <a:p>
            <a:r>
              <a:rPr lang="en-US" dirty="0"/>
              <a:t>	This syntax is used to retrieve every row from the table with information from every column of the table. Here * represents “all columns”.</a:t>
            </a:r>
            <a:endParaRPr lang="en-IN" dirty="0"/>
          </a:p>
          <a:p>
            <a:r>
              <a:rPr lang="en-US" b="1" dirty="0"/>
              <a:t>Examples:</a:t>
            </a:r>
            <a:endParaRPr lang="en-IN" dirty="0"/>
          </a:p>
          <a:p>
            <a:r>
              <a:rPr lang="en-US" b="1" dirty="0" err="1"/>
              <a:t>i</a:t>
            </a:r>
            <a:r>
              <a:rPr lang="en-US" b="1" dirty="0"/>
              <a:t>. Display The Details of all employees in the company</a:t>
            </a:r>
            <a:endParaRPr lang="en-IN" dirty="0"/>
          </a:p>
          <a:p>
            <a:r>
              <a:rPr lang="en-US" b="1" dirty="0"/>
              <a:t>		</a:t>
            </a:r>
            <a:r>
              <a:rPr lang="en-US" dirty="0"/>
              <a:t>Select * From </a:t>
            </a:r>
            <a:r>
              <a:rPr lang="en-US" dirty="0" err="1"/>
              <a:t>emp</a:t>
            </a:r>
            <a:endParaRPr lang="en-IN" dirty="0"/>
          </a:p>
          <a:p>
            <a:r>
              <a:rPr lang="en-US" b="1" dirty="0"/>
              <a:t>ii. Display the details of all students</a:t>
            </a:r>
            <a:endParaRPr lang="en-IN" dirty="0"/>
          </a:p>
          <a:p>
            <a:r>
              <a:rPr lang="en-US" b="1" dirty="0"/>
              <a:t>		</a:t>
            </a:r>
            <a:r>
              <a:rPr lang="en-US" dirty="0"/>
              <a:t>Select * from Student</a:t>
            </a:r>
            <a:endParaRPr lang="en-IN" dirty="0"/>
          </a:p>
          <a:p>
            <a:endParaRPr lang="en-IN" dirty="0"/>
          </a:p>
        </p:txBody>
      </p:sp>
    </p:spTree>
    <p:extLst>
      <p:ext uri="{BB962C8B-B14F-4D97-AF65-F5344CB8AC3E}">
        <p14:creationId xmlns:p14="http://schemas.microsoft.com/office/powerpoint/2010/main" val="1509317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BDDF7-BB1F-44EB-B784-00F08AB51B1F}"/>
              </a:ext>
            </a:extLst>
          </p:cNvPr>
          <p:cNvSpPr>
            <a:spLocks noGrp="1"/>
          </p:cNvSpPr>
          <p:nvPr>
            <p:ph type="title"/>
          </p:nvPr>
        </p:nvSpPr>
        <p:spPr>
          <a:xfrm>
            <a:off x="838200" y="365125"/>
            <a:ext cx="10515600" cy="973481"/>
          </a:xfrm>
        </p:spPr>
        <p:txBody>
          <a:bodyPr/>
          <a:lstStyle/>
          <a:p>
            <a:r>
              <a:rPr lang="en-IN" dirty="0"/>
              <a:t>Cont..</a:t>
            </a:r>
          </a:p>
        </p:txBody>
      </p:sp>
      <p:sp>
        <p:nvSpPr>
          <p:cNvPr id="3" name="Content Placeholder 2">
            <a:extLst>
              <a:ext uri="{FF2B5EF4-FFF2-40B4-BE49-F238E27FC236}">
                <a16:creationId xmlns:a16="http://schemas.microsoft.com/office/drawing/2014/main" id="{22BA9C9B-A125-4BBE-AE32-D21D2879ED95}"/>
              </a:ext>
            </a:extLst>
          </p:cNvPr>
          <p:cNvSpPr>
            <a:spLocks noGrp="1"/>
          </p:cNvSpPr>
          <p:nvPr>
            <p:ph idx="1"/>
          </p:nvPr>
        </p:nvSpPr>
        <p:spPr>
          <a:xfrm>
            <a:off x="838200" y="1338606"/>
            <a:ext cx="10515600" cy="4838357"/>
          </a:xfrm>
        </p:spPr>
        <p:txBody>
          <a:bodyPr/>
          <a:lstStyle/>
          <a:p>
            <a:r>
              <a:rPr lang="en-US" b="1" dirty="0"/>
              <a:t>2. Select Column1,column2,column3,… From </a:t>
            </a:r>
            <a:r>
              <a:rPr lang="en-US" b="1" dirty="0" err="1"/>
              <a:t>TableName</a:t>
            </a:r>
            <a:endParaRPr lang="en-IN" dirty="0"/>
          </a:p>
          <a:p>
            <a:r>
              <a:rPr lang="en-US" b="1" dirty="0"/>
              <a:t>	</a:t>
            </a:r>
            <a:r>
              <a:rPr lang="en-US" dirty="0"/>
              <a:t>This syntax is used to retrieve the information from only specified columns of the table from every row of the table.</a:t>
            </a:r>
            <a:endParaRPr lang="en-IN" dirty="0"/>
          </a:p>
          <a:p>
            <a:r>
              <a:rPr lang="en-US" b="1" dirty="0"/>
              <a:t>Examples:</a:t>
            </a:r>
            <a:endParaRPr lang="en-IN" dirty="0"/>
          </a:p>
          <a:p>
            <a:r>
              <a:rPr lang="en-US" dirty="0"/>
              <a:t>	</a:t>
            </a:r>
            <a:r>
              <a:rPr lang="en-US" b="1" dirty="0" err="1"/>
              <a:t>i</a:t>
            </a:r>
            <a:r>
              <a:rPr lang="en-US" b="1" dirty="0"/>
              <a:t>. Display Employee </a:t>
            </a:r>
            <a:r>
              <a:rPr lang="en-US" b="1" dirty="0" err="1"/>
              <a:t>no,name,job</a:t>
            </a:r>
            <a:r>
              <a:rPr lang="en-US" b="1" dirty="0"/>
              <a:t> and salary for every </a:t>
            </a:r>
            <a:r>
              <a:rPr lang="en-US" b="1" dirty="0" err="1"/>
              <a:t>empoloyee</a:t>
            </a:r>
            <a:endParaRPr lang="en-IN" dirty="0"/>
          </a:p>
          <a:p>
            <a:r>
              <a:rPr lang="en-US" b="1" dirty="0"/>
              <a:t>		</a:t>
            </a:r>
            <a:r>
              <a:rPr lang="en-US" dirty="0"/>
              <a:t>select </a:t>
            </a:r>
            <a:r>
              <a:rPr lang="en-US" dirty="0" err="1"/>
              <a:t>empno,ename,job,sal</a:t>
            </a:r>
            <a:r>
              <a:rPr lang="en-US" dirty="0"/>
              <a:t> from emp</a:t>
            </a:r>
            <a:endParaRPr lang="en-IN" dirty="0"/>
          </a:p>
          <a:p>
            <a:r>
              <a:rPr lang="en-US" dirty="0"/>
              <a:t>	</a:t>
            </a:r>
            <a:r>
              <a:rPr lang="en-US" b="1" dirty="0"/>
              <a:t>ii. Display </a:t>
            </a:r>
            <a:r>
              <a:rPr lang="en-US" b="1" dirty="0" err="1"/>
              <a:t>sid</a:t>
            </a:r>
            <a:r>
              <a:rPr lang="en-US" b="1" dirty="0"/>
              <a:t> and </a:t>
            </a:r>
            <a:r>
              <a:rPr lang="en-US" b="1" dirty="0" err="1"/>
              <a:t>sname</a:t>
            </a:r>
            <a:r>
              <a:rPr lang="en-US" b="1" dirty="0"/>
              <a:t> from student</a:t>
            </a:r>
            <a:endParaRPr lang="en-IN" dirty="0"/>
          </a:p>
          <a:p>
            <a:r>
              <a:rPr lang="en-US" b="1" dirty="0"/>
              <a:t>		</a:t>
            </a:r>
            <a:r>
              <a:rPr lang="en-US" dirty="0"/>
              <a:t>select </a:t>
            </a:r>
            <a:r>
              <a:rPr lang="en-US" dirty="0" err="1"/>
              <a:t>sid,sname</a:t>
            </a:r>
            <a:r>
              <a:rPr lang="en-US" dirty="0"/>
              <a:t> from student</a:t>
            </a:r>
            <a:endParaRPr lang="en-IN" dirty="0"/>
          </a:p>
          <a:p>
            <a:endParaRPr lang="en-IN" dirty="0"/>
          </a:p>
        </p:txBody>
      </p:sp>
    </p:spTree>
    <p:extLst>
      <p:ext uri="{BB962C8B-B14F-4D97-AF65-F5344CB8AC3E}">
        <p14:creationId xmlns:p14="http://schemas.microsoft.com/office/powerpoint/2010/main" val="3437940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23B09-EA76-482B-AC5A-C2FE7AB07D67}"/>
              </a:ext>
            </a:extLst>
          </p:cNvPr>
          <p:cNvSpPr>
            <a:spLocks noGrp="1"/>
          </p:cNvSpPr>
          <p:nvPr>
            <p:ph type="title"/>
          </p:nvPr>
        </p:nvSpPr>
        <p:spPr>
          <a:xfrm>
            <a:off x="838200" y="365125"/>
            <a:ext cx="10515600" cy="737811"/>
          </a:xfrm>
        </p:spPr>
        <p:txBody>
          <a:bodyPr/>
          <a:lstStyle/>
          <a:p>
            <a:r>
              <a:rPr lang="en-IN" dirty="0"/>
              <a:t>Cont..</a:t>
            </a:r>
          </a:p>
        </p:txBody>
      </p:sp>
      <p:sp>
        <p:nvSpPr>
          <p:cNvPr id="3" name="Content Placeholder 2">
            <a:extLst>
              <a:ext uri="{FF2B5EF4-FFF2-40B4-BE49-F238E27FC236}">
                <a16:creationId xmlns:a16="http://schemas.microsoft.com/office/drawing/2014/main" id="{9FB2B392-0533-4F88-BEC2-0333F210CA34}"/>
              </a:ext>
            </a:extLst>
          </p:cNvPr>
          <p:cNvSpPr>
            <a:spLocks noGrp="1"/>
          </p:cNvSpPr>
          <p:nvPr>
            <p:ph idx="1"/>
          </p:nvPr>
        </p:nvSpPr>
        <p:spPr>
          <a:xfrm>
            <a:off x="838200" y="1102936"/>
            <a:ext cx="10515600" cy="5074027"/>
          </a:xfrm>
        </p:spPr>
        <p:txBody>
          <a:bodyPr>
            <a:normAutofit fontScale="92500" lnSpcReduction="10000"/>
          </a:bodyPr>
          <a:lstStyle/>
          <a:p>
            <a:r>
              <a:rPr lang="en-US" b="1" dirty="0"/>
              <a:t>3. Select */</a:t>
            </a:r>
            <a:r>
              <a:rPr lang="en-US" b="1" dirty="0" err="1"/>
              <a:t>ColumnList</a:t>
            </a:r>
            <a:r>
              <a:rPr lang="en-US" b="1" dirty="0"/>
              <a:t> From </a:t>
            </a:r>
            <a:r>
              <a:rPr lang="en-US" b="1" dirty="0" err="1"/>
              <a:t>TableName</a:t>
            </a:r>
            <a:r>
              <a:rPr lang="en-US" b="1" dirty="0"/>
              <a:t> Where Condition</a:t>
            </a:r>
            <a:endParaRPr lang="en-IN" dirty="0"/>
          </a:p>
          <a:p>
            <a:r>
              <a:rPr lang="en-US" b="1" dirty="0"/>
              <a:t>	</a:t>
            </a:r>
            <a:r>
              <a:rPr lang="en-US" dirty="0"/>
              <a:t>This syntax is used retrieve only specified rows from table. The given condition will be verified with every row and only the rows that satisfy the given condition will be displayed in the output.</a:t>
            </a:r>
            <a:endParaRPr lang="en-IN" dirty="0"/>
          </a:p>
          <a:p>
            <a:r>
              <a:rPr lang="en-US" b="1" dirty="0"/>
              <a:t>Examples:</a:t>
            </a:r>
            <a:endParaRPr lang="en-IN" dirty="0"/>
          </a:p>
          <a:p>
            <a:r>
              <a:rPr lang="en-US" b="1" dirty="0"/>
              <a:t>	</a:t>
            </a:r>
            <a:r>
              <a:rPr lang="en-US" b="1" dirty="0" err="1"/>
              <a:t>i</a:t>
            </a:r>
            <a:r>
              <a:rPr lang="en-US" b="1" dirty="0"/>
              <a:t>. Display the details of employees working in department 30</a:t>
            </a:r>
            <a:endParaRPr lang="en-IN" dirty="0"/>
          </a:p>
          <a:p>
            <a:r>
              <a:rPr lang="en-US" b="1" dirty="0"/>
              <a:t>		</a:t>
            </a:r>
            <a:r>
              <a:rPr lang="en-US" dirty="0"/>
              <a:t>Select * from </a:t>
            </a:r>
            <a:r>
              <a:rPr lang="en-US" dirty="0" err="1"/>
              <a:t>emp</a:t>
            </a:r>
            <a:r>
              <a:rPr lang="en-US" dirty="0"/>
              <a:t> where </a:t>
            </a:r>
            <a:r>
              <a:rPr lang="en-US" dirty="0" err="1"/>
              <a:t>deptno</a:t>
            </a:r>
            <a:r>
              <a:rPr lang="en-US" dirty="0"/>
              <a:t>=30</a:t>
            </a:r>
            <a:endParaRPr lang="en-IN" dirty="0"/>
          </a:p>
          <a:p>
            <a:r>
              <a:rPr lang="en-US" dirty="0"/>
              <a:t>	</a:t>
            </a:r>
            <a:r>
              <a:rPr lang="en-US" b="1" dirty="0"/>
              <a:t>ii. Display the details of employees working as manager</a:t>
            </a:r>
            <a:endParaRPr lang="en-IN" dirty="0"/>
          </a:p>
          <a:p>
            <a:r>
              <a:rPr lang="en-US" b="1" dirty="0"/>
              <a:t>		</a:t>
            </a:r>
            <a:r>
              <a:rPr lang="en-US" dirty="0"/>
              <a:t>Select * from </a:t>
            </a:r>
            <a:r>
              <a:rPr lang="en-US" dirty="0" err="1"/>
              <a:t>emp</a:t>
            </a:r>
            <a:r>
              <a:rPr lang="en-US" dirty="0"/>
              <a:t> where job=’manager’</a:t>
            </a:r>
            <a:endParaRPr lang="en-IN" dirty="0"/>
          </a:p>
          <a:p>
            <a:r>
              <a:rPr lang="en-US" dirty="0"/>
              <a:t>	</a:t>
            </a:r>
            <a:r>
              <a:rPr lang="en-US" b="1" dirty="0"/>
              <a:t>iii. Find employees whose salary is more than 2000 and less than 3000</a:t>
            </a:r>
            <a:endParaRPr lang="en-IN" dirty="0"/>
          </a:p>
          <a:p>
            <a:r>
              <a:rPr lang="en-US" b="1" dirty="0"/>
              <a:t>		</a:t>
            </a:r>
            <a:r>
              <a:rPr lang="en-US" dirty="0"/>
              <a:t>Select * from </a:t>
            </a:r>
            <a:r>
              <a:rPr lang="en-US" dirty="0" err="1"/>
              <a:t>emp</a:t>
            </a:r>
            <a:r>
              <a:rPr lang="en-US" dirty="0"/>
              <a:t> where Sal&gt;2000 and </a:t>
            </a:r>
            <a:r>
              <a:rPr lang="en-US" dirty="0" err="1"/>
              <a:t>sal</a:t>
            </a:r>
            <a:r>
              <a:rPr lang="en-US" dirty="0"/>
              <a:t>&lt;3000</a:t>
            </a:r>
            <a:endParaRPr lang="en-IN" dirty="0"/>
          </a:p>
          <a:p>
            <a:endParaRPr lang="en-IN" dirty="0"/>
          </a:p>
        </p:txBody>
      </p:sp>
    </p:spTree>
    <p:extLst>
      <p:ext uri="{BB962C8B-B14F-4D97-AF65-F5344CB8AC3E}">
        <p14:creationId xmlns:p14="http://schemas.microsoft.com/office/powerpoint/2010/main" val="420900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FF17D-F80F-470B-B271-F43FB03E0052}"/>
              </a:ext>
            </a:extLst>
          </p:cNvPr>
          <p:cNvSpPr>
            <a:spLocks noGrp="1"/>
          </p:cNvSpPr>
          <p:nvPr>
            <p:ph type="title"/>
          </p:nvPr>
        </p:nvSpPr>
        <p:spPr>
          <a:xfrm>
            <a:off x="838200" y="365126"/>
            <a:ext cx="10515600" cy="728384"/>
          </a:xfrm>
        </p:spPr>
        <p:txBody>
          <a:bodyPr/>
          <a:lstStyle/>
          <a:p>
            <a:r>
              <a:rPr lang="en-IN" dirty="0"/>
              <a:t>Cont..</a:t>
            </a:r>
          </a:p>
        </p:txBody>
      </p:sp>
      <p:sp>
        <p:nvSpPr>
          <p:cNvPr id="3" name="Content Placeholder 2">
            <a:extLst>
              <a:ext uri="{FF2B5EF4-FFF2-40B4-BE49-F238E27FC236}">
                <a16:creationId xmlns:a16="http://schemas.microsoft.com/office/drawing/2014/main" id="{5F228437-E417-4E8E-AA39-AD0FCAF3461A}"/>
              </a:ext>
            </a:extLst>
          </p:cNvPr>
          <p:cNvSpPr>
            <a:spLocks noGrp="1"/>
          </p:cNvSpPr>
          <p:nvPr>
            <p:ph idx="1"/>
          </p:nvPr>
        </p:nvSpPr>
        <p:spPr>
          <a:xfrm>
            <a:off x="838200" y="1093510"/>
            <a:ext cx="10515600" cy="5083453"/>
          </a:xfrm>
        </p:spPr>
        <p:txBody>
          <a:bodyPr/>
          <a:lstStyle/>
          <a:p>
            <a:r>
              <a:rPr lang="en-US" b="1" dirty="0"/>
              <a:t>4. Select distinct </a:t>
            </a:r>
            <a:r>
              <a:rPr lang="en-US" b="1" dirty="0" err="1"/>
              <a:t>ColumnList</a:t>
            </a:r>
            <a:r>
              <a:rPr lang="en-US" b="1" dirty="0"/>
              <a:t> From </a:t>
            </a:r>
            <a:r>
              <a:rPr lang="en-US" b="1" dirty="0" err="1"/>
              <a:t>TableName</a:t>
            </a:r>
            <a:r>
              <a:rPr lang="en-US" b="1" dirty="0"/>
              <a:t> [Where Condition]</a:t>
            </a:r>
            <a:endParaRPr lang="en-IN" dirty="0"/>
          </a:p>
          <a:p>
            <a:r>
              <a:rPr lang="en-US" b="1" dirty="0"/>
              <a:t>	</a:t>
            </a:r>
            <a:r>
              <a:rPr lang="en-US" dirty="0"/>
              <a:t>Distinct is used to eliminate duplicate values in the output of a select statement. Distinct can be used only once in a select statement and it must be immediately after select key word. When you specify a single column in the selection list after distinct then duplicates will be eliminated in that column. When you specify multiple columns in the selection list after distinct then duplicates will be eliminated in the combination of values of specified columns.</a:t>
            </a:r>
            <a:endParaRPr lang="en-IN" dirty="0"/>
          </a:p>
          <a:p>
            <a:endParaRPr lang="en-IN" dirty="0"/>
          </a:p>
        </p:txBody>
      </p:sp>
    </p:spTree>
    <p:extLst>
      <p:ext uri="{BB962C8B-B14F-4D97-AF65-F5344CB8AC3E}">
        <p14:creationId xmlns:p14="http://schemas.microsoft.com/office/powerpoint/2010/main" val="251464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B2417-E4D2-498C-A06D-748EB18D8F78}"/>
              </a:ext>
            </a:extLst>
          </p:cNvPr>
          <p:cNvSpPr>
            <a:spLocks noGrp="1"/>
          </p:cNvSpPr>
          <p:nvPr>
            <p:ph type="title"/>
          </p:nvPr>
        </p:nvSpPr>
        <p:spPr/>
        <p:txBody>
          <a:bodyPr/>
          <a:lstStyle/>
          <a:p>
            <a:r>
              <a:rPr lang="en-IN" dirty="0"/>
              <a:t>Cont..</a:t>
            </a:r>
          </a:p>
        </p:txBody>
      </p:sp>
      <p:sp>
        <p:nvSpPr>
          <p:cNvPr id="3" name="Content Placeholder 2">
            <a:extLst>
              <a:ext uri="{FF2B5EF4-FFF2-40B4-BE49-F238E27FC236}">
                <a16:creationId xmlns:a16="http://schemas.microsoft.com/office/drawing/2014/main" id="{DDE35CCB-6096-4B2A-B9BF-D847C554BF66}"/>
              </a:ext>
            </a:extLst>
          </p:cNvPr>
          <p:cNvSpPr>
            <a:spLocks noGrp="1"/>
          </p:cNvSpPr>
          <p:nvPr>
            <p:ph idx="1"/>
          </p:nvPr>
        </p:nvSpPr>
        <p:spPr/>
        <p:txBody>
          <a:bodyPr/>
          <a:lstStyle/>
          <a:p>
            <a:r>
              <a:rPr lang="en-US" b="1" dirty="0"/>
              <a:t>Examples : </a:t>
            </a:r>
            <a:endParaRPr lang="en-IN" dirty="0"/>
          </a:p>
          <a:p>
            <a:r>
              <a:rPr lang="en-US" b="1" dirty="0"/>
              <a:t>	</a:t>
            </a:r>
            <a:r>
              <a:rPr lang="en-US" b="1" dirty="0" err="1"/>
              <a:t>i</a:t>
            </a:r>
            <a:r>
              <a:rPr lang="en-US" b="1" dirty="0"/>
              <a:t>. Find Department </a:t>
            </a:r>
            <a:r>
              <a:rPr lang="en-US" b="1" dirty="0" err="1"/>
              <a:t>nos</a:t>
            </a:r>
            <a:r>
              <a:rPr lang="en-US" b="1" dirty="0"/>
              <a:t> in which employees are working</a:t>
            </a:r>
            <a:endParaRPr lang="en-IN" dirty="0"/>
          </a:p>
          <a:p>
            <a:r>
              <a:rPr lang="en-US" b="1" dirty="0"/>
              <a:t>		</a:t>
            </a:r>
            <a:r>
              <a:rPr lang="en-US" dirty="0"/>
              <a:t>Select </a:t>
            </a:r>
            <a:r>
              <a:rPr lang="en-US" dirty="0" err="1"/>
              <a:t>Deptno</a:t>
            </a:r>
            <a:r>
              <a:rPr lang="en-US" dirty="0"/>
              <a:t> from </a:t>
            </a:r>
            <a:r>
              <a:rPr lang="en-US" dirty="0" err="1"/>
              <a:t>Emp</a:t>
            </a:r>
            <a:endParaRPr lang="en-IN" dirty="0"/>
          </a:p>
          <a:p>
            <a:r>
              <a:rPr lang="en-US" dirty="0"/>
              <a:t>	This query will display Department </a:t>
            </a:r>
            <a:r>
              <a:rPr lang="en-US" dirty="0" err="1"/>
              <a:t>nos</a:t>
            </a:r>
            <a:r>
              <a:rPr lang="en-US" dirty="0"/>
              <a:t> 10,20 and 30 with duplicates. To display the result without duplicates we have to write the query as</a:t>
            </a:r>
            <a:endParaRPr lang="en-IN" dirty="0"/>
          </a:p>
          <a:p>
            <a:r>
              <a:rPr lang="en-US" dirty="0"/>
              <a:t>		Select Distinct </a:t>
            </a:r>
            <a:r>
              <a:rPr lang="en-US" dirty="0" err="1"/>
              <a:t>Deptno</a:t>
            </a:r>
            <a:r>
              <a:rPr lang="en-US" dirty="0"/>
              <a:t> from </a:t>
            </a:r>
            <a:r>
              <a:rPr lang="en-US" dirty="0" err="1"/>
              <a:t>emp</a:t>
            </a:r>
            <a:endParaRPr lang="en-IN" dirty="0"/>
          </a:p>
          <a:p>
            <a:endParaRPr lang="en-IN" dirty="0"/>
          </a:p>
        </p:txBody>
      </p:sp>
    </p:spTree>
    <p:extLst>
      <p:ext uri="{BB962C8B-B14F-4D97-AF65-F5344CB8AC3E}">
        <p14:creationId xmlns:p14="http://schemas.microsoft.com/office/powerpoint/2010/main" val="1159936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C0FB0-25E0-4B26-9FC9-508D73B19A7D}"/>
              </a:ext>
            </a:extLst>
          </p:cNvPr>
          <p:cNvSpPr>
            <a:spLocks noGrp="1"/>
          </p:cNvSpPr>
          <p:nvPr>
            <p:ph type="title"/>
          </p:nvPr>
        </p:nvSpPr>
        <p:spPr>
          <a:xfrm>
            <a:off x="838200" y="365125"/>
            <a:ext cx="10515600" cy="624689"/>
          </a:xfrm>
        </p:spPr>
        <p:txBody>
          <a:bodyPr>
            <a:normAutofit fontScale="90000"/>
          </a:bodyPr>
          <a:lstStyle/>
          <a:p>
            <a:r>
              <a:rPr lang="en-IN" dirty="0"/>
              <a:t>Cont..</a:t>
            </a:r>
          </a:p>
        </p:txBody>
      </p:sp>
      <p:sp>
        <p:nvSpPr>
          <p:cNvPr id="3" name="Content Placeholder 2">
            <a:extLst>
              <a:ext uri="{FF2B5EF4-FFF2-40B4-BE49-F238E27FC236}">
                <a16:creationId xmlns:a16="http://schemas.microsoft.com/office/drawing/2014/main" id="{3D7011DA-7C04-400D-AA21-7399BD0B91A4}"/>
              </a:ext>
            </a:extLst>
          </p:cNvPr>
          <p:cNvSpPr>
            <a:spLocks noGrp="1"/>
          </p:cNvSpPr>
          <p:nvPr>
            <p:ph idx="1"/>
          </p:nvPr>
        </p:nvSpPr>
        <p:spPr>
          <a:xfrm>
            <a:off x="838200" y="989814"/>
            <a:ext cx="10515600" cy="5187149"/>
          </a:xfrm>
        </p:spPr>
        <p:txBody>
          <a:bodyPr>
            <a:normAutofit fontScale="92500" lnSpcReduction="20000"/>
          </a:bodyPr>
          <a:lstStyle/>
          <a:p>
            <a:r>
              <a:rPr lang="en-US" b="1" dirty="0"/>
              <a:t>5. Select [Distinct] */</a:t>
            </a:r>
            <a:r>
              <a:rPr lang="en-US" b="1" dirty="0" err="1"/>
              <a:t>ColumnList</a:t>
            </a:r>
            <a:r>
              <a:rPr lang="en-US" b="1" dirty="0"/>
              <a:t> From </a:t>
            </a:r>
            <a:r>
              <a:rPr lang="en-US" b="1" dirty="0" err="1"/>
              <a:t>TableName</a:t>
            </a:r>
            <a:r>
              <a:rPr lang="en-US" b="1" dirty="0"/>
              <a:t> [Where Condition] Order By </a:t>
            </a:r>
            <a:r>
              <a:rPr lang="en-US" b="1" dirty="0" err="1"/>
              <a:t>ColumnName</a:t>
            </a:r>
            <a:r>
              <a:rPr lang="en-US" b="1" dirty="0"/>
              <a:t> </a:t>
            </a:r>
            <a:r>
              <a:rPr lang="en-US" b="1" dirty="0" err="1"/>
              <a:t>Asc</a:t>
            </a:r>
            <a:r>
              <a:rPr lang="en-US" b="1" dirty="0"/>
              <a:t>/</a:t>
            </a:r>
            <a:r>
              <a:rPr lang="en-US" b="1" dirty="0" err="1"/>
              <a:t>Desc</a:t>
            </a:r>
            <a:endParaRPr lang="en-IN" dirty="0"/>
          </a:p>
          <a:p>
            <a:r>
              <a:rPr lang="en-US" b="1" dirty="0"/>
              <a:t>	</a:t>
            </a:r>
            <a:r>
              <a:rPr lang="en-US" dirty="0"/>
              <a:t>Order By clause is used in select statement to arrange the rows in the out put in either ascending or descending order of specified columns In the order by clause. In order by clause you can specify more than one column and when you specify more than one column, first the rows are arranged in specified order of first column in order by clause and then if more than one row has same value in that column then those rows will be arranged in specified order of second column in order by clause and so on.</a:t>
            </a:r>
            <a:endParaRPr lang="en-IN" dirty="0"/>
          </a:p>
          <a:p>
            <a:r>
              <a:rPr lang="en-US" b="1" dirty="0"/>
              <a:t>Examples: </a:t>
            </a:r>
            <a:endParaRPr lang="en-IN" dirty="0"/>
          </a:p>
          <a:p>
            <a:r>
              <a:rPr lang="en-US" b="1" dirty="0"/>
              <a:t>	</a:t>
            </a:r>
            <a:r>
              <a:rPr lang="en-US" b="1" dirty="0" err="1"/>
              <a:t>i</a:t>
            </a:r>
            <a:r>
              <a:rPr lang="en-US" b="1" dirty="0"/>
              <a:t>. Display all employees in the order of highest salary to lowest salary</a:t>
            </a:r>
            <a:endParaRPr lang="en-IN" dirty="0"/>
          </a:p>
          <a:p>
            <a:r>
              <a:rPr lang="en-US" b="1" dirty="0"/>
              <a:t>		</a:t>
            </a:r>
            <a:r>
              <a:rPr lang="en-US" dirty="0"/>
              <a:t>Select * from </a:t>
            </a:r>
            <a:r>
              <a:rPr lang="en-US" dirty="0" err="1"/>
              <a:t>emp</a:t>
            </a:r>
            <a:r>
              <a:rPr lang="en-US" dirty="0"/>
              <a:t> order by </a:t>
            </a:r>
            <a:r>
              <a:rPr lang="en-US" dirty="0" err="1"/>
              <a:t>sal</a:t>
            </a:r>
            <a:r>
              <a:rPr lang="en-US" dirty="0"/>
              <a:t> </a:t>
            </a:r>
            <a:r>
              <a:rPr lang="en-US" dirty="0" err="1"/>
              <a:t>desc</a:t>
            </a:r>
            <a:endParaRPr lang="en-IN" dirty="0"/>
          </a:p>
          <a:p>
            <a:r>
              <a:rPr lang="en-US" dirty="0"/>
              <a:t>	</a:t>
            </a:r>
            <a:r>
              <a:rPr lang="en-US" b="1" dirty="0"/>
              <a:t>ii. Display all employees in alphabetical order of their name</a:t>
            </a:r>
            <a:endParaRPr lang="en-IN" dirty="0"/>
          </a:p>
          <a:p>
            <a:r>
              <a:rPr lang="en-US" dirty="0"/>
              <a:t>		Select * from </a:t>
            </a:r>
            <a:r>
              <a:rPr lang="en-US" dirty="0" err="1"/>
              <a:t>emp</a:t>
            </a:r>
            <a:r>
              <a:rPr lang="en-US" dirty="0"/>
              <a:t> order by </a:t>
            </a:r>
            <a:r>
              <a:rPr lang="en-US" dirty="0" err="1"/>
              <a:t>ename</a:t>
            </a:r>
            <a:endParaRPr lang="en-IN" dirty="0"/>
          </a:p>
          <a:p>
            <a:endParaRPr lang="en-IN" dirty="0"/>
          </a:p>
        </p:txBody>
      </p:sp>
    </p:spTree>
    <p:extLst>
      <p:ext uri="{BB962C8B-B14F-4D97-AF65-F5344CB8AC3E}">
        <p14:creationId xmlns:p14="http://schemas.microsoft.com/office/powerpoint/2010/main" val="940746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29B7F-6F64-42E8-96E1-3CA86017C058}"/>
              </a:ext>
            </a:extLst>
          </p:cNvPr>
          <p:cNvSpPr>
            <a:spLocks noGrp="1"/>
          </p:cNvSpPr>
          <p:nvPr>
            <p:ph type="title"/>
          </p:nvPr>
        </p:nvSpPr>
        <p:spPr>
          <a:xfrm>
            <a:off x="838200" y="365126"/>
            <a:ext cx="10515600" cy="869786"/>
          </a:xfrm>
        </p:spPr>
        <p:txBody>
          <a:bodyPr/>
          <a:lstStyle/>
          <a:p>
            <a:r>
              <a:rPr lang="en-IN" dirty="0"/>
              <a:t>Cont..</a:t>
            </a:r>
          </a:p>
        </p:txBody>
      </p:sp>
      <p:sp>
        <p:nvSpPr>
          <p:cNvPr id="3" name="Content Placeholder 2">
            <a:extLst>
              <a:ext uri="{FF2B5EF4-FFF2-40B4-BE49-F238E27FC236}">
                <a16:creationId xmlns:a16="http://schemas.microsoft.com/office/drawing/2014/main" id="{74A99F32-5876-4F7A-9B3E-FA5DF643622E}"/>
              </a:ext>
            </a:extLst>
          </p:cNvPr>
          <p:cNvSpPr>
            <a:spLocks noGrp="1"/>
          </p:cNvSpPr>
          <p:nvPr>
            <p:ph idx="1"/>
          </p:nvPr>
        </p:nvSpPr>
        <p:spPr>
          <a:xfrm>
            <a:off x="838200" y="1150070"/>
            <a:ext cx="10515600" cy="5026893"/>
          </a:xfrm>
        </p:spPr>
        <p:txBody>
          <a:bodyPr>
            <a:normAutofit/>
          </a:bodyPr>
          <a:lstStyle/>
          <a:p>
            <a:r>
              <a:rPr lang="en-US" b="1" dirty="0"/>
              <a:t>6. Select </a:t>
            </a:r>
            <a:r>
              <a:rPr lang="en-US" b="1" dirty="0" err="1"/>
              <a:t>ColumnName</a:t>
            </a:r>
            <a:r>
              <a:rPr lang="en-US" b="1" dirty="0"/>
              <a:t> </a:t>
            </a:r>
            <a:r>
              <a:rPr lang="en-US" b="1" dirty="0" err="1"/>
              <a:t>AliasName</a:t>
            </a:r>
            <a:r>
              <a:rPr lang="en-US" b="1" dirty="0"/>
              <a:t>, </a:t>
            </a:r>
            <a:r>
              <a:rPr lang="en-US" b="1" dirty="0" err="1"/>
              <a:t>ColumnName</a:t>
            </a:r>
            <a:r>
              <a:rPr lang="en-US" b="1" dirty="0"/>
              <a:t> </a:t>
            </a:r>
            <a:r>
              <a:rPr lang="en-US" b="1" dirty="0" err="1"/>
              <a:t>AliasName</a:t>
            </a:r>
            <a:r>
              <a:rPr lang="en-US" b="1" dirty="0"/>
              <a:t>,… From </a:t>
            </a:r>
            <a:r>
              <a:rPr lang="en-US" b="1" dirty="0" err="1"/>
              <a:t>TableName</a:t>
            </a:r>
            <a:r>
              <a:rPr lang="en-US" b="1" dirty="0"/>
              <a:t> </a:t>
            </a:r>
            <a:endParaRPr lang="en-IN" dirty="0"/>
          </a:p>
          <a:p>
            <a:r>
              <a:rPr lang="en-US" dirty="0"/>
              <a:t>	Within the select statement you can give alias names for the columns so that column names will be changed in the output of the select statement. When alias name is more than one word then it is compulsory to include it in double quotes. Generally alias names are used for the expressions like “</a:t>
            </a:r>
            <a:r>
              <a:rPr lang="en-US" dirty="0" err="1"/>
              <a:t>sal</a:t>
            </a:r>
            <a:r>
              <a:rPr lang="en-US" dirty="0"/>
              <a:t> *12”</a:t>
            </a:r>
            <a:endParaRPr lang="en-IN" dirty="0"/>
          </a:p>
          <a:p>
            <a:r>
              <a:rPr lang="en-US" b="1" dirty="0"/>
              <a:t>Examples:</a:t>
            </a:r>
            <a:endParaRPr lang="en-IN" dirty="0"/>
          </a:p>
          <a:p>
            <a:r>
              <a:rPr lang="en-US" b="1" dirty="0"/>
              <a:t>	</a:t>
            </a:r>
            <a:r>
              <a:rPr lang="en-US" b="1" dirty="0" err="1"/>
              <a:t>i</a:t>
            </a:r>
            <a:r>
              <a:rPr lang="en-US" b="1" dirty="0"/>
              <a:t>. Display </a:t>
            </a:r>
            <a:r>
              <a:rPr lang="en-US" b="1" dirty="0" err="1"/>
              <a:t>empno,name,job,salary</a:t>
            </a:r>
            <a:r>
              <a:rPr lang="en-US" b="1" dirty="0"/>
              <a:t> and annual salary for every employee</a:t>
            </a:r>
            <a:endParaRPr lang="en-IN" dirty="0"/>
          </a:p>
          <a:p>
            <a:r>
              <a:rPr lang="en-US" b="1" dirty="0"/>
              <a:t>		</a:t>
            </a:r>
            <a:r>
              <a:rPr lang="en-US" dirty="0"/>
              <a:t>Select </a:t>
            </a:r>
            <a:r>
              <a:rPr lang="en-US" dirty="0" err="1"/>
              <a:t>empno,ename,job,sal,sal</a:t>
            </a:r>
            <a:r>
              <a:rPr lang="en-US" dirty="0"/>
              <a:t>*12 as </a:t>
            </a:r>
            <a:r>
              <a:rPr lang="en-US" dirty="0" err="1"/>
              <a:t>annualsal</a:t>
            </a:r>
            <a:r>
              <a:rPr lang="en-US" dirty="0"/>
              <a:t> from </a:t>
            </a:r>
            <a:r>
              <a:rPr lang="en-US" dirty="0" err="1"/>
              <a:t>emp</a:t>
            </a:r>
            <a:endParaRPr lang="en-IN" dirty="0"/>
          </a:p>
          <a:p>
            <a:endParaRPr lang="en-IN" dirty="0"/>
          </a:p>
        </p:txBody>
      </p:sp>
    </p:spTree>
    <p:extLst>
      <p:ext uri="{BB962C8B-B14F-4D97-AF65-F5344CB8AC3E}">
        <p14:creationId xmlns:p14="http://schemas.microsoft.com/office/powerpoint/2010/main" val="4729932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5EF70-B4F4-41CB-BB8F-70F891AF38D9}"/>
              </a:ext>
            </a:extLst>
          </p:cNvPr>
          <p:cNvSpPr>
            <a:spLocks noGrp="1"/>
          </p:cNvSpPr>
          <p:nvPr>
            <p:ph type="title"/>
          </p:nvPr>
        </p:nvSpPr>
        <p:spPr/>
        <p:txBody>
          <a:bodyPr/>
          <a:lstStyle/>
          <a:p>
            <a:r>
              <a:rPr lang="en-US" b="1" u="words" dirty="0"/>
              <a:t>Predicates</a:t>
            </a:r>
            <a:endParaRPr lang="en-IN" dirty="0"/>
          </a:p>
        </p:txBody>
      </p:sp>
      <p:sp>
        <p:nvSpPr>
          <p:cNvPr id="3" name="Content Placeholder 2">
            <a:extLst>
              <a:ext uri="{FF2B5EF4-FFF2-40B4-BE49-F238E27FC236}">
                <a16:creationId xmlns:a16="http://schemas.microsoft.com/office/drawing/2014/main" id="{63A95CEE-79CD-489E-9196-0080368C1C55}"/>
              </a:ext>
            </a:extLst>
          </p:cNvPr>
          <p:cNvSpPr>
            <a:spLocks noGrp="1"/>
          </p:cNvSpPr>
          <p:nvPr>
            <p:ph idx="1"/>
          </p:nvPr>
        </p:nvSpPr>
        <p:spPr/>
        <p:txBody>
          <a:bodyPr/>
          <a:lstStyle/>
          <a:p>
            <a:r>
              <a:rPr lang="en-US" dirty="0"/>
              <a:t>	SQL supports various key words and operators that can be used in where clause of select statement and these key words and operators are called as predicates. Among the predicates supported by SQL, Four predicates are as follows.</a:t>
            </a:r>
            <a:endParaRPr lang="en-IN" dirty="0"/>
          </a:p>
          <a:p>
            <a:pPr lvl="0"/>
            <a:r>
              <a:rPr lang="en-US" b="1" dirty="0"/>
              <a:t>Between … And : </a:t>
            </a:r>
            <a:r>
              <a:rPr lang="en-US" dirty="0"/>
              <a:t>This predicate is used to verify whether the given value exists in given range of values. This predicate can be used with numeric type of data as well as date type of data.</a:t>
            </a:r>
            <a:endParaRPr lang="en-IN" dirty="0"/>
          </a:p>
          <a:p>
            <a:endParaRPr lang="en-IN" dirty="0"/>
          </a:p>
        </p:txBody>
      </p:sp>
    </p:spTree>
    <p:extLst>
      <p:ext uri="{BB962C8B-B14F-4D97-AF65-F5344CB8AC3E}">
        <p14:creationId xmlns:p14="http://schemas.microsoft.com/office/powerpoint/2010/main" val="3609338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C581E-808D-434E-B7E1-6136D3716887}"/>
              </a:ext>
            </a:extLst>
          </p:cNvPr>
          <p:cNvSpPr>
            <a:spLocks noGrp="1"/>
          </p:cNvSpPr>
          <p:nvPr>
            <p:ph type="title"/>
          </p:nvPr>
        </p:nvSpPr>
        <p:spPr>
          <a:xfrm>
            <a:off x="838200" y="365126"/>
            <a:ext cx="10515600" cy="869785"/>
          </a:xfrm>
        </p:spPr>
        <p:txBody>
          <a:bodyPr/>
          <a:lstStyle/>
          <a:p>
            <a:r>
              <a:rPr lang="en-IN" dirty="0"/>
              <a:t>Cont..</a:t>
            </a:r>
          </a:p>
        </p:txBody>
      </p:sp>
      <p:sp>
        <p:nvSpPr>
          <p:cNvPr id="3" name="Content Placeholder 2">
            <a:extLst>
              <a:ext uri="{FF2B5EF4-FFF2-40B4-BE49-F238E27FC236}">
                <a16:creationId xmlns:a16="http://schemas.microsoft.com/office/drawing/2014/main" id="{CA39516A-0FEE-4770-96AB-99F1C08D41E0}"/>
              </a:ext>
            </a:extLst>
          </p:cNvPr>
          <p:cNvSpPr>
            <a:spLocks noGrp="1"/>
          </p:cNvSpPr>
          <p:nvPr>
            <p:ph idx="1"/>
          </p:nvPr>
        </p:nvSpPr>
        <p:spPr>
          <a:xfrm>
            <a:off x="838200" y="1234911"/>
            <a:ext cx="10515600" cy="4942052"/>
          </a:xfrm>
        </p:spPr>
        <p:txBody>
          <a:bodyPr/>
          <a:lstStyle/>
          <a:p>
            <a:r>
              <a:rPr lang="en-US" b="1" dirty="0"/>
              <a:t>Examples:</a:t>
            </a:r>
            <a:endParaRPr lang="en-IN" dirty="0"/>
          </a:p>
          <a:p>
            <a:r>
              <a:rPr lang="en-US" dirty="0"/>
              <a:t>	</a:t>
            </a:r>
            <a:r>
              <a:rPr lang="en-US" b="1" dirty="0" err="1"/>
              <a:t>i</a:t>
            </a:r>
            <a:r>
              <a:rPr lang="en-US" b="1" dirty="0"/>
              <a:t>. Find all employees whose salary is more than 2000 and less than 3000</a:t>
            </a:r>
            <a:endParaRPr lang="en-IN" dirty="0"/>
          </a:p>
          <a:p>
            <a:r>
              <a:rPr lang="en-US" b="1" dirty="0"/>
              <a:t>		</a:t>
            </a:r>
            <a:r>
              <a:rPr lang="en-US" dirty="0"/>
              <a:t>Select * from </a:t>
            </a:r>
            <a:r>
              <a:rPr lang="en-US" dirty="0" err="1"/>
              <a:t>emp</a:t>
            </a:r>
            <a:r>
              <a:rPr lang="en-US" dirty="0"/>
              <a:t> where </a:t>
            </a:r>
            <a:r>
              <a:rPr lang="en-US" dirty="0" err="1"/>
              <a:t>sal</a:t>
            </a:r>
            <a:r>
              <a:rPr lang="en-US" dirty="0"/>
              <a:t> between 2000 and 3000</a:t>
            </a:r>
            <a:endParaRPr lang="en-IN" dirty="0"/>
          </a:p>
          <a:p>
            <a:r>
              <a:rPr lang="en-US" dirty="0"/>
              <a:t>	</a:t>
            </a:r>
            <a:r>
              <a:rPr lang="en-US" b="1" dirty="0"/>
              <a:t>ii. Find all employees who are joined in the company in the year 1982</a:t>
            </a:r>
            <a:endParaRPr lang="en-IN" dirty="0"/>
          </a:p>
          <a:p>
            <a:r>
              <a:rPr lang="en-US" b="1" dirty="0"/>
              <a:t>		</a:t>
            </a:r>
            <a:r>
              <a:rPr lang="en-US" dirty="0"/>
              <a:t>Select * from </a:t>
            </a:r>
            <a:r>
              <a:rPr lang="en-US" dirty="0" err="1"/>
              <a:t>emp</a:t>
            </a:r>
            <a:r>
              <a:rPr lang="en-US" dirty="0"/>
              <a:t> where </a:t>
            </a:r>
            <a:r>
              <a:rPr lang="en-US" dirty="0" err="1"/>
              <a:t>sal</a:t>
            </a:r>
            <a:r>
              <a:rPr lang="en-US" dirty="0"/>
              <a:t> between ‘1/1/1982’ and ‘12/31/1982’</a:t>
            </a:r>
            <a:endParaRPr lang="en-IN" dirty="0"/>
          </a:p>
          <a:p>
            <a:endParaRPr lang="en-IN" dirty="0"/>
          </a:p>
        </p:txBody>
      </p:sp>
    </p:spTree>
    <p:extLst>
      <p:ext uri="{BB962C8B-B14F-4D97-AF65-F5344CB8AC3E}">
        <p14:creationId xmlns:p14="http://schemas.microsoft.com/office/powerpoint/2010/main" val="19252678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B800B-E570-488A-BAD0-098AFFCA9F95}"/>
              </a:ext>
            </a:extLst>
          </p:cNvPr>
          <p:cNvSpPr>
            <a:spLocks noGrp="1"/>
          </p:cNvSpPr>
          <p:nvPr>
            <p:ph type="title"/>
          </p:nvPr>
        </p:nvSpPr>
        <p:spPr>
          <a:xfrm>
            <a:off x="838200" y="365125"/>
            <a:ext cx="10515600" cy="784945"/>
          </a:xfrm>
        </p:spPr>
        <p:txBody>
          <a:bodyPr/>
          <a:lstStyle/>
          <a:p>
            <a:r>
              <a:rPr lang="en-IN" dirty="0"/>
              <a:t>Cont..</a:t>
            </a:r>
          </a:p>
        </p:txBody>
      </p:sp>
      <p:sp>
        <p:nvSpPr>
          <p:cNvPr id="3" name="Content Placeholder 2">
            <a:extLst>
              <a:ext uri="{FF2B5EF4-FFF2-40B4-BE49-F238E27FC236}">
                <a16:creationId xmlns:a16="http://schemas.microsoft.com/office/drawing/2014/main" id="{0BFA04B4-9E11-4E66-9CE6-C7104B674BB9}"/>
              </a:ext>
            </a:extLst>
          </p:cNvPr>
          <p:cNvSpPr>
            <a:spLocks noGrp="1"/>
          </p:cNvSpPr>
          <p:nvPr>
            <p:ph idx="1"/>
          </p:nvPr>
        </p:nvSpPr>
        <p:spPr>
          <a:xfrm>
            <a:off x="838200" y="1150070"/>
            <a:ext cx="10515600" cy="5026893"/>
          </a:xfrm>
        </p:spPr>
        <p:txBody>
          <a:bodyPr/>
          <a:lstStyle/>
          <a:p>
            <a:pPr lvl="0"/>
            <a:r>
              <a:rPr lang="en-US" b="1" dirty="0"/>
              <a:t>In :</a:t>
            </a:r>
            <a:r>
              <a:rPr lang="en-US" dirty="0"/>
              <a:t> This predicate is used to verify whether the given value exists in a given list of values. This can be used with numeric, character and date type of data.</a:t>
            </a:r>
            <a:endParaRPr lang="en-IN" dirty="0"/>
          </a:p>
          <a:p>
            <a:r>
              <a:rPr lang="en-US" b="1" dirty="0"/>
              <a:t>Examples:</a:t>
            </a:r>
            <a:endParaRPr lang="en-IN" dirty="0"/>
          </a:p>
          <a:p>
            <a:r>
              <a:rPr lang="en-US" dirty="0"/>
              <a:t>	</a:t>
            </a:r>
            <a:r>
              <a:rPr lang="en-US" b="1" dirty="0" err="1"/>
              <a:t>i</a:t>
            </a:r>
            <a:r>
              <a:rPr lang="en-US" b="1" dirty="0"/>
              <a:t>. Find all employees whose salary is either 800 or 1250 or 1600</a:t>
            </a:r>
            <a:endParaRPr lang="en-IN" dirty="0"/>
          </a:p>
          <a:p>
            <a:r>
              <a:rPr lang="en-US" dirty="0"/>
              <a:t>		Select * from </a:t>
            </a:r>
            <a:r>
              <a:rPr lang="en-US" dirty="0" err="1"/>
              <a:t>emp</a:t>
            </a:r>
            <a:r>
              <a:rPr lang="en-US" dirty="0"/>
              <a:t> where </a:t>
            </a:r>
            <a:r>
              <a:rPr lang="en-US" dirty="0" err="1"/>
              <a:t>sal</a:t>
            </a:r>
            <a:r>
              <a:rPr lang="en-US" dirty="0"/>
              <a:t> in(800,1250,1600)</a:t>
            </a:r>
            <a:endParaRPr lang="en-IN" dirty="0"/>
          </a:p>
          <a:p>
            <a:r>
              <a:rPr lang="en-US" dirty="0"/>
              <a:t>	</a:t>
            </a:r>
            <a:r>
              <a:rPr lang="en-US" b="1" dirty="0"/>
              <a:t>ii. Find all employees who are working as either manager or clerk or analyst</a:t>
            </a:r>
            <a:endParaRPr lang="en-IN" dirty="0"/>
          </a:p>
          <a:p>
            <a:r>
              <a:rPr lang="en-US" b="1" dirty="0"/>
              <a:t>		</a:t>
            </a:r>
            <a:r>
              <a:rPr lang="en-US" dirty="0"/>
              <a:t>Select * from </a:t>
            </a:r>
            <a:r>
              <a:rPr lang="en-US" dirty="0" err="1"/>
              <a:t>emp</a:t>
            </a:r>
            <a:r>
              <a:rPr lang="en-US" dirty="0"/>
              <a:t> where job in (‘</a:t>
            </a:r>
            <a:r>
              <a:rPr lang="en-US" dirty="0" err="1"/>
              <a:t>manager’,’clerk’,’analyst</a:t>
            </a:r>
            <a:r>
              <a:rPr lang="en-US" dirty="0"/>
              <a:t>’)</a:t>
            </a:r>
            <a:endParaRPr lang="en-IN" dirty="0"/>
          </a:p>
          <a:p>
            <a:endParaRPr lang="en-IN" dirty="0"/>
          </a:p>
        </p:txBody>
      </p:sp>
    </p:spTree>
    <p:extLst>
      <p:ext uri="{BB962C8B-B14F-4D97-AF65-F5344CB8AC3E}">
        <p14:creationId xmlns:p14="http://schemas.microsoft.com/office/powerpoint/2010/main" val="2888057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9B1CB-4D1D-4059-946C-8CB31AC12CA9}"/>
              </a:ext>
            </a:extLst>
          </p:cNvPr>
          <p:cNvSpPr>
            <a:spLocks noGrp="1"/>
          </p:cNvSpPr>
          <p:nvPr>
            <p:ph type="title"/>
          </p:nvPr>
        </p:nvSpPr>
        <p:spPr>
          <a:xfrm>
            <a:off x="838200" y="365125"/>
            <a:ext cx="10515600" cy="718957"/>
          </a:xfrm>
        </p:spPr>
        <p:txBody>
          <a:bodyPr/>
          <a:lstStyle/>
          <a:p>
            <a:r>
              <a:rPr lang="en-IN" dirty="0"/>
              <a:t>Cont..</a:t>
            </a:r>
          </a:p>
        </p:txBody>
      </p:sp>
      <p:sp>
        <p:nvSpPr>
          <p:cNvPr id="3" name="Content Placeholder 2">
            <a:extLst>
              <a:ext uri="{FF2B5EF4-FFF2-40B4-BE49-F238E27FC236}">
                <a16:creationId xmlns:a16="http://schemas.microsoft.com/office/drawing/2014/main" id="{7CF03D11-1801-4B78-80A1-761C01F2C447}"/>
              </a:ext>
            </a:extLst>
          </p:cNvPr>
          <p:cNvSpPr>
            <a:spLocks noGrp="1"/>
          </p:cNvSpPr>
          <p:nvPr>
            <p:ph idx="1"/>
          </p:nvPr>
        </p:nvSpPr>
        <p:spPr>
          <a:xfrm>
            <a:off x="838200" y="1187777"/>
            <a:ext cx="10515600" cy="4989186"/>
          </a:xfrm>
        </p:spPr>
        <p:txBody>
          <a:bodyPr/>
          <a:lstStyle/>
          <a:p>
            <a:pPr lvl="0"/>
            <a:r>
              <a:rPr lang="en-US" b="1" dirty="0"/>
              <a:t>Like :</a:t>
            </a:r>
            <a:r>
              <a:rPr lang="en-US" dirty="0"/>
              <a:t> this predicate is used to verify for a specific pattern in character columns. This is used only with character type of data. With the like predicate you have to use two wild characters % and _ (Underscore).</a:t>
            </a:r>
            <a:endParaRPr lang="en-IN" dirty="0"/>
          </a:p>
          <a:p>
            <a:r>
              <a:rPr lang="en-US" b="1" dirty="0"/>
              <a:t>Examples:</a:t>
            </a:r>
            <a:endParaRPr lang="en-IN" dirty="0"/>
          </a:p>
          <a:p>
            <a:r>
              <a:rPr lang="en-US" dirty="0"/>
              <a:t>	</a:t>
            </a:r>
            <a:r>
              <a:rPr lang="en-US" b="1" dirty="0" err="1"/>
              <a:t>i</a:t>
            </a:r>
            <a:r>
              <a:rPr lang="en-US" b="1" dirty="0"/>
              <a:t>. Find all employees whose name starts with ‘S’</a:t>
            </a:r>
            <a:endParaRPr lang="en-IN" dirty="0"/>
          </a:p>
          <a:p>
            <a:r>
              <a:rPr lang="en-US" dirty="0"/>
              <a:t>		Select * From </a:t>
            </a:r>
            <a:r>
              <a:rPr lang="en-US" dirty="0" err="1"/>
              <a:t>emp</a:t>
            </a:r>
            <a:r>
              <a:rPr lang="en-US" dirty="0"/>
              <a:t> Where </a:t>
            </a:r>
            <a:r>
              <a:rPr lang="en-US" dirty="0" err="1"/>
              <a:t>Ename</a:t>
            </a:r>
            <a:r>
              <a:rPr lang="en-US" dirty="0"/>
              <a:t> like ‘S%’</a:t>
            </a:r>
            <a:endParaRPr lang="en-IN" dirty="0"/>
          </a:p>
          <a:p>
            <a:r>
              <a:rPr lang="en-US" dirty="0"/>
              <a:t>	</a:t>
            </a:r>
            <a:r>
              <a:rPr lang="en-US" b="1" dirty="0"/>
              <a:t>ii. Find all employees whose name ends with ‘E’</a:t>
            </a:r>
            <a:endParaRPr lang="en-IN" dirty="0"/>
          </a:p>
          <a:p>
            <a:r>
              <a:rPr lang="en-US" b="1" dirty="0"/>
              <a:t>		</a:t>
            </a:r>
            <a:r>
              <a:rPr lang="en-US" dirty="0"/>
              <a:t>Select * from </a:t>
            </a:r>
            <a:r>
              <a:rPr lang="en-US" dirty="0" err="1"/>
              <a:t>emp</a:t>
            </a:r>
            <a:r>
              <a:rPr lang="en-US" dirty="0"/>
              <a:t> where </a:t>
            </a:r>
            <a:r>
              <a:rPr lang="en-US" dirty="0" err="1"/>
              <a:t>ename</a:t>
            </a:r>
            <a:r>
              <a:rPr lang="en-US" dirty="0"/>
              <a:t> like ‘%E’</a:t>
            </a:r>
            <a:endParaRPr lang="en-IN" dirty="0"/>
          </a:p>
          <a:p>
            <a:endParaRPr lang="en-IN" dirty="0"/>
          </a:p>
        </p:txBody>
      </p:sp>
    </p:spTree>
    <p:extLst>
      <p:ext uri="{BB962C8B-B14F-4D97-AF65-F5344CB8AC3E}">
        <p14:creationId xmlns:p14="http://schemas.microsoft.com/office/powerpoint/2010/main" val="25804542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85009-1108-4EA9-A1FF-C1E460F711FA}"/>
              </a:ext>
            </a:extLst>
          </p:cNvPr>
          <p:cNvSpPr>
            <a:spLocks noGrp="1"/>
          </p:cNvSpPr>
          <p:nvPr>
            <p:ph type="title"/>
          </p:nvPr>
        </p:nvSpPr>
        <p:spPr>
          <a:xfrm>
            <a:off x="838200" y="365125"/>
            <a:ext cx="10515600" cy="784945"/>
          </a:xfrm>
        </p:spPr>
        <p:txBody>
          <a:bodyPr>
            <a:normAutofit/>
          </a:bodyPr>
          <a:lstStyle/>
          <a:p>
            <a:r>
              <a:rPr lang="en-US" b="1" u="words" dirty="0"/>
              <a:t>Built In Functions</a:t>
            </a:r>
            <a:endParaRPr lang="en-IN" dirty="0"/>
          </a:p>
        </p:txBody>
      </p:sp>
      <p:sp>
        <p:nvSpPr>
          <p:cNvPr id="3" name="Content Placeholder 2">
            <a:extLst>
              <a:ext uri="{FF2B5EF4-FFF2-40B4-BE49-F238E27FC236}">
                <a16:creationId xmlns:a16="http://schemas.microsoft.com/office/drawing/2014/main" id="{6103DBAF-2FDD-4927-810B-B9F0793A7F14}"/>
              </a:ext>
            </a:extLst>
          </p:cNvPr>
          <p:cNvSpPr>
            <a:spLocks noGrp="1"/>
          </p:cNvSpPr>
          <p:nvPr>
            <p:ph idx="1"/>
          </p:nvPr>
        </p:nvSpPr>
        <p:spPr>
          <a:xfrm>
            <a:off x="838200" y="1150070"/>
            <a:ext cx="10515600" cy="5026893"/>
          </a:xfrm>
        </p:spPr>
        <p:txBody>
          <a:bodyPr/>
          <a:lstStyle/>
          <a:p>
            <a:r>
              <a:rPr lang="en-US" dirty="0"/>
              <a:t>	As in other languages like C and C++, SQL also provides Built in functions. Built in functions in SQL are classified into following categories.</a:t>
            </a:r>
            <a:endParaRPr lang="en-IN" dirty="0"/>
          </a:p>
          <a:p>
            <a:pPr lvl="0"/>
            <a:r>
              <a:rPr lang="en-US" dirty="0"/>
              <a:t>Scalar Functions</a:t>
            </a:r>
            <a:endParaRPr lang="en-IN" dirty="0"/>
          </a:p>
          <a:p>
            <a:pPr lvl="0"/>
            <a:r>
              <a:rPr lang="en-US" dirty="0"/>
              <a:t>Aggregate Functions</a:t>
            </a:r>
            <a:endParaRPr lang="en-IN" dirty="0"/>
          </a:p>
          <a:p>
            <a:pPr lvl="0"/>
            <a:r>
              <a:rPr lang="en-US" dirty="0"/>
              <a:t>Ranking Functions</a:t>
            </a:r>
            <a:endParaRPr lang="en-IN" dirty="0"/>
          </a:p>
          <a:p>
            <a:endParaRPr lang="en-IN" dirty="0"/>
          </a:p>
        </p:txBody>
      </p:sp>
    </p:spTree>
    <p:extLst>
      <p:ext uri="{BB962C8B-B14F-4D97-AF65-F5344CB8AC3E}">
        <p14:creationId xmlns:p14="http://schemas.microsoft.com/office/powerpoint/2010/main" val="12629661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731C5-5633-4F34-AF6D-B9E7C7777192}"/>
              </a:ext>
            </a:extLst>
          </p:cNvPr>
          <p:cNvSpPr>
            <a:spLocks noGrp="1"/>
          </p:cNvSpPr>
          <p:nvPr>
            <p:ph type="title"/>
          </p:nvPr>
        </p:nvSpPr>
        <p:spPr/>
        <p:txBody>
          <a:bodyPr/>
          <a:lstStyle/>
          <a:p>
            <a:r>
              <a:rPr lang="en-IN" dirty="0"/>
              <a:t>Cont..</a:t>
            </a:r>
          </a:p>
        </p:txBody>
      </p:sp>
      <p:sp>
        <p:nvSpPr>
          <p:cNvPr id="3" name="Content Placeholder 2">
            <a:extLst>
              <a:ext uri="{FF2B5EF4-FFF2-40B4-BE49-F238E27FC236}">
                <a16:creationId xmlns:a16="http://schemas.microsoft.com/office/drawing/2014/main" id="{34058E3A-6C8B-4AF7-8BC1-387B9DC11D45}"/>
              </a:ext>
            </a:extLst>
          </p:cNvPr>
          <p:cNvSpPr>
            <a:spLocks noGrp="1"/>
          </p:cNvSpPr>
          <p:nvPr>
            <p:ph idx="1"/>
          </p:nvPr>
        </p:nvSpPr>
        <p:spPr/>
        <p:txBody>
          <a:bodyPr/>
          <a:lstStyle/>
          <a:p>
            <a:r>
              <a:rPr lang="en-US" b="1" u="words" dirty="0"/>
              <a:t>Scalar Functions </a:t>
            </a:r>
            <a:r>
              <a:rPr lang="en-US" b="1" dirty="0"/>
              <a:t>: </a:t>
            </a:r>
            <a:r>
              <a:rPr lang="en-US" dirty="0"/>
              <a:t>The built in functions in SQL Server that work on a single value are called as scalar functions. Scalar functions are again classified into following categories based on data type on which they work.</a:t>
            </a:r>
            <a:endParaRPr lang="en-IN" dirty="0"/>
          </a:p>
          <a:p>
            <a:pPr lvl="0"/>
            <a:r>
              <a:rPr lang="en-US" dirty="0"/>
              <a:t>Numeric Functions</a:t>
            </a:r>
            <a:endParaRPr lang="en-IN" dirty="0"/>
          </a:p>
          <a:p>
            <a:pPr lvl="0"/>
            <a:r>
              <a:rPr lang="en-US" dirty="0"/>
              <a:t>String Functions</a:t>
            </a:r>
            <a:endParaRPr lang="en-IN" dirty="0"/>
          </a:p>
          <a:p>
            <a:pPr lvl="0"/>
            <a:r>
              <a:rPr lang="en-US" dirty="0"/>
              <a:t>Date Functions</a:t>
            </a:r>
            <a:endParaRPr lang="en-IN" dirty="0"/>
          </a:p>
          <a:p>
            <a:pPr lvl="0"/>
            <a:r>
              <a:rPr lang="en-US" dirty="0"/>
              <a:t>Conversion Functions</a:t>
            </a:r>
            <a:endParaRPr lang="en-IN" dirty="0"/>
          </a:p>
          <a:p>
            <a:pPr lvl="0"/>
            <a:r>
              <a:rPr lang="en-US" dirty="0"/>
              <a:t>System Functions</a:t>
            </a:r>
            <a:endParaRPr lang="en-IN" dirty="0"/>
          </a:p>
          <a:p>
            <a:endParaRPr lang="en-IN" dirty="0"/>
          </a:p>
        </p:txBody>
      </p:sp>
    </p:spTree>
    <p:extLst>
      <p:ext uri="{BB962C8B-B14F-4D97-AF65-F5344CB8AC3E}">
        <p14:creationId xmlns:p14="http://schemas.microsoft.com/office/powerpoint/2010/main" val="19507336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7409C-8F02-402B-ADA3-C63239C2B796}"/>
              </a:ext>
            </a:extLst>
          </p:cNvPr>
          <p:cNvSpPr>
            <a:spLocks noGrp="1"/>
          </p:cNvSpPr>
          <p:nvPr>
            <p:ph type="title"/>
          </p:nvPr>
        </p:nvSpPr>
        <p:spPr/>
        <p:txBody>
          <a:bodyPr/>
          <a:lstStyle/>
          <a:p>
            <a:r>
              <a:rPr lang="en-US" b="1" u="words" dirty="0"/>
              <a:t>Numeric Functions</a:t>
            </a:r>
            <a:r>
              <a:rPr lang="en-US" b="1" dirty="0"/>
              <a:t> :</a:t>
            </a:r>
            <a:endParaRPr lang="en-IN" dirty="0"/>
          </a:p>
        </p:txBody>
      </p:sp>
      <p:sp>
        <p:nvSpPr>
          <p:cNvPr id="3" name="Content Placeholder 2">
            <a:extLst>
              <a:ext uri="{FF2B5EF4-FFF2-40B4-BE49-F238E27FC236}">
                <a16:creationId xmlns:a16="http://schemas.microsoft.com/office/drawing/2014/main" id="{E58FB7B4-B314-48D7-879A-1B3F8C3A441B}"/>
              </a:ext>
            </a:extLst>
          </p:cNvPr>
          <p:cNvSpPr>
            <a:spLocks noGrp="1"/>
          </p:cNvSpPr>
          <p:nvPr>
            <p:ph idx="1"/>
          </p:nvPr>
        </p:nvSpPr>
        <p:spPr/>
        <p:txBody>
          <a:bodyPr>
            <a:normAutofit fontScale="92500" lnSpcReduction="20000"/>
          </a:bodyPr>
          <a:lstStyle/>
          <a:p>
            <a:r>
              <a:rPr lang="en-US" dirty="0"/>
              <a:t>The scalar functions of SQL that work on numeric type of data are called as numeric functions. Numeric functions in SQL are as follows.</a:t>
            </a:r>
            <a:endParaRPr lang="en-IN" dirty="0"/>
          </a:p>
          <a:p>
            <a:pPr lvl="0"/>
            <a:r>
              <a:rPr lang="en-US" b="1" dirty="0"/>
              <a:t>Abs(n) : </a:t>
            </a:r>
            <a:r>
              <a:rPr lang="en-US" dirty="0"/>
              <a:t>Returns absolute value of the given </a:t>
            </a:r>
            <a:r>
              <a:rPr lang="en-US" b="1" dirty="0"/>
              <a:t>n</a:t>
            </a:r>
            <a:r>
              <a:rPr lang="en-US" dirty="0"/>
              <a:t> i.e. </a:t>
            </a:r>
            <a:r>
              <a:rPr lang="en-US" b="1" dirty="0"/>
              <a:t>n</a:t>
            </a:r>
            <a:r>
              <a:rPr lang="en-US" dirty="0"/>
              <a:t> value without any sign.</a:t>
            </a:r>
            <a:endParaRPr lang="en-IN" dirty="0"/>
          </a:p>
          <a:p>
            <a:pPr lvl="0"/>
            <a:r>
              <a:rPr lang="en-US" b="1" dirty="0"/>
              <a:t>Cos(n) : </a:t>
            </a:r>
            <a:r>
              <a:rPr lang="en-US" dirty="0"/>
              <a:t>Returns cosine value of given </a:t>
            </a:r>
            <a:r>
              <a:rPr lang="en-US" b="1" dirty="0"/>
              <a:t>n </a:t>
            </a:r>
            <a:r>
              <a:rPr lang="en-US" dirty="0"/>
              <a:t>in radians.</a:t>
            </a:r>
            <a:endParaRPr lang="en-IN" dirty="0"/>
          </a:p>
          <a:p>
            <a:pPr lvl="0"/>
            <a:r>
              <a:rPr lang="en-US" b="1" dirty="0"/>
              <a:t>Ceiling(n) :</a:t>
            </a:r>
            <a:r>
              <a:rPr lang="en-US" dirty="0"/>
              <a:t> Returns smallest integer greater than or equal to </a:t>
            </a:r>
            <a:r>
              <a:rPr lang="en-US" b="1" dirty="0"/>
              <a:t>n.</a:t>
            </a:r>
            <a:endParaRPr lang="en-IN" dirty="0"/>
          </a:p>
          <a:p>
            <a:pPr lvl="0"/>
            <a:r>
              <a:rPr lang="en-US" b="1" dirty="0"/>
              <a:t>Floor(n) : </a:t>
            </a:r>
            <a:r>
              <a:rPr lang="en-US" dirty="0"/>
              <a:t>Returns Largest integer less than or equal to </a:t>
            </a:r>
            <a:r>
              <a:rPr lang="en-US" b="1" dirty="0"/>
              <a:t>n.</a:t>
            </a:r>
            <a:endParaRPr lang="en-IN" dirty="0"/>
          </a:p>
          <a:p>
            <a:pPr lvl="0"/>
            <a:r>
              <a:rPr lang="en-US" b="1" dirty="0"/>
              <a:t>Radians(n) : </a:t>
            </a:r>
            <a:r>
              <a:rPr lang="en-US" dirty="0"/>
              <a:t>Converts the given </a:t>
            </a:r>
            <a:r>
              <a:rPr lang="en-US" b="1" dirty="0"/>
              <a:t>n </a:t>
            </a:r>
            <a:r>
              <a:rPr lang="en-US" dirty="0"/>
              <a:t>in degrees to radians.</a:t>
            </a:r>
            <a:endParaRPr lang="en-IN" dirty="0"/>
          </a:p>
          <a:p>
            <a:pPr lvl="0"/>
            <a:r>
              <a:rPr lang="en-US" b="1" dirty="0"/>
              <a:t>Degrees(n) :</a:t>
            </a:r>
            <a:r>
              <a:rPr lang="en-US" dirty="0"/>
              <a:t> Converts the given </a:t>
            </a:r>
            <a:r>
              <a:rPr lang="en-US" b="1" dirty="0"/>
              <a:t>n </a:t>
            </a:r>
            <a:r>
              <a:rPr lang="en-US" dirty="0"/>
              <a:t>in radians to degrees.</a:t>
            </a:r>
            <a:endParaRPr lang="en-IN" dirty="0"/>
          </a:p>
          <a:p>
            <a:pPr lvl="0"/>
            <a:r>
              <a:rPr lang="en-US" b="1" dirty="0" err="1"/>
              <a:t>Exp</a:t>
            </a:r>
            <a:r>
              <a:rPr lang="en-US" b="1" dirty="0"/>
              <a:t>(n) :</a:t>
            </a:r>
            <a:r>
              <a:rPr lang="en-US" dirty="0"/>
              <a:t> Returns </a:t>
            </a:r>
            <a:r>
              <a:rPr lang="en-US" b="1" dirty="0"/>
              <a:t>e </a:t>
            </a:r>
            <a:r>
              <a:rPr lang="en-US" dirty="0"/>
              <a:t>raised to the power of </a:t>
            </a:r>
            <a:r>
              <a:rPr lang="en-US" b="1" dirty="0"/>
              <a:t>n. e </a:t>
            </a:r>
            <a:r>
              <a:rPr lang="en-US" dirty="0"/>
              <a:t>is exponential whose value is constant and is 2.713 </a:t>
            </a:r>
            <a:endParaRPr lang="en-IN" dirty="0"/>
          </a:p>
          <a:p>
            <a:pPr lvl="0"/>
            <a:r>
              <a:rPr lang="en-US" b="1" dirty="0"/>
              <a:t>Log(n) : </a:t>
            </a:r>
            <a:r>
              <a:rPr lang="en-US" dirty="0"/>
              <a:t>Returns natural logarithm of </a:t>
            </a:r>
            <a:r>
              <a:rPr lang="en-US" b="1" dirty="0"/>
              <a:t>n. </a:t>
            </a:r>
            <a:r>
              <a:rPr lang="en-US" dirty="0"/>
              <a:t>i.e. base </a:t>
            </a:r>
            <a:r>
              <a:rPr lang="en-US" b="1" dirty="0"/>
              <a:t>e </a:t>
            </a:r>
            <a:r>
              <a:rPr lang="en-US" dirty="0"/>
              <a:t>logarithm.</a:t>
            </a:r>
            <a:endParaRPr lang="en-IN" dirty="0"/>
          </a:p>
          <a:p>
            <a:endParaRPr lang="en-IN" dirty="0"/>
          </a:p>
        </p:txBody>
      </p:sp>
    </p:spTree>
    <p:extLst>
      <p:ext uri="{BB962C8B-B14F-4D97-AF65-F5344CB8AC3E}">
        <p14:creationId xmlns:p14="http://schemas.microsoft.com/office/powerpoint/2010/main" val="27793267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DC41E-CE3C-43E4-8EF6-EF101C266BD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85C17D7-1C86-46DE-A97A-C5230AAA238C}"/>
              </a:ext>
            </a:extLst>
          </p:cNvPr>
          <p:cNvSpPr>
            <a:spLocks noGrp="1"/>
          </p:cNvSpPr>
          <p:nvPr>
            <p:ph idx="1"/>
          </p:nvPr>
        </p:nvSpPr>
        <p:spPr/>
        <p:txBody>
          <a:bodyPr>
            <a:normAutofit fontScale="92500" lnSpcReduction="10000"/>
          </a:bodyPr>
          <a:lstStyle/>
          <a:p>
            <a:pPr lvl="0"/>
            <a:r>
              <a:rPr lang="en-US" b="1" dirty="0"/>
              <a:t>Log10(n) :</a:t>
            </a:r>
            <a:r>
              <a:rPr lang="en-US" dirty="0"/>
              <a:t> Returns base 10 logarithm of </a:t>
            </a:r>
            <a:r>
              <a:rPr lang="en-US" b="1" dirty="0"/>
              <a:t>n.</a:t>
            </a:r>
            <a:endParaRPr lang="en-IN" dirty="0"/>
          </a:p>
          <a:p>
            <a:pPr lvl="0"/>
            <a:r>
              <a:rPr lang="en-US" dirty="0"/>
              <a:t> </a:t>
            </a:r>
            <a:r>
              <a:rPr lang="en-US" b="1" dirty="0"/>
              <a:t>Power(</a:t>
            </a:r>
            <a:r>
              <a:rPr lang="en-US" b="1" dirty="0" err="1"/>
              <a:t>m,n</a:t>
            </a:r>
            <a:r>
              <a:rPr lang="en-US" b="1" dirty="0"/>
              <a:t>) : </a:t>
            </a:r>
            <a:r>
              <a:rPr lang="en-US" dirty="0"/>
              <a:t>Returns </a:t>
            </a:r>
            <a:r>
              <a:rPr lang="en-US" b="1" dirty="0"/>
              <a:t>m </a:t>
            </a:r>
            <a:r>
              <a:rPr lang="en-US" dirty="0"/>
              <a:t>raised to the power of </a:t>
            </a:r>
            <a:r>
              <a:rPr lang="en-US" b="1" dirty="0"/>
              <a:t>n.</a:t>
            </a:r>
            <a:endParaRPr lang="en-IN" dirty="0"/>
          </a:p>
          <a:p>
            <a:pPr lvl="0"/>
            <a:r>
              <a:rPr lang="en-US" b="1" dirty="0"/>
              <a:t>Square(n) : </a:t>
            </a:r>
            <a:r>
              <a:rPr lang="en-US" dirty="0"/>
              <a:t>Returns Square of given </a:t>
            </a:r>
            <a:r>
              <a:rPr lang="en-US" b="1" dirty="0"/>
              <a:t>n.</a:t>
            </a:r>
            <a:endParaRPr lang="en-IN" dirty="0"/>
          </a:p>
          <a:p>
            <a:pPr lvl="0"/>
            <a:r>
              <a:rPr lang="en-US" b="1" dirty="0"/>
              <a:t>Sqrt(n) : </a:t>
            </a:r>
            <a:r>
              <a:rPr lang="en-US" dirty="0"/>
              <a:t>Returns Square Root of given </a:t>
            </a:r>
            <a:r>
              <a:rPr lang="en-US" b="1" dirty="0"/>
              <a:t>n.</a:t>
            </a:r>
            <a:endParaRPr lang="en-IN" dirty="0"/>
          </a:p>
          <a:p>
            <a:pPr lvl="0"/>
            <a:r>
              <a:rPr lang="en-US" b="1" dirty="0"/>
              <a:t>Sin(n) : </a:t>
            </a:r>
            <a:r>
              <a:rPr lang="en-US" dirty="0"/>
              <a:t>Returns sine value of given </a:t>
            </a:r>
            <a:r>
              <a:rPr lang="en-US" b="1" dirty="0"/>
              <a:t>n </a:t>
            </a:r>
            <a:r>
              <a:rPr lang="en-US" dirty="0"/>
              <a:t>in radians.</a:t>
            </a:r>
            <a:endParaRPr lang="en-IN" dirty="0"/>
          </a:p>
          <a:p>
            <a:pPr lvl="0"/>
            <a:r>
              <a:rPr lang="en-US" b="1" dirty="0"/>
              <a:t>Tan(n) : </a:t>
            </a:r>
            <a:r>
              <a:rPr lang="en-US" dirty="0"/>
              <a:t>Returns tangent value of given </a:t>
            </a:r>
            <a:r>
              <a:rPr lang="en-US" b="1" dirty="0"/>
              <a:t>n </a:t>
            </a:r>
            <a:r>
              <a:rPr lang="en-US" dirty="0"/>
              <a:t>in radians.</a:t>
            </a:r>
            <a:endParaRPr lang="en-IN" dirty="0"/>
          </a:p>
          <a:p>
            <a:pPr lvl="0"/>
            <a:r>
              <a:rPr lang="en-US" b="1" dirty="0"/>
              <a:t>Sign(n) : </a:t>
            </a:r>
            <a:r>
              <a:rPr lang="en-US" dirty="0"/>
              <a:t>Return -1 if </a:t>
            </a:r>
            <a:r>
              <a:rPr lang="en-US" b="1" dirty="0"/>
              <a:t>n </a:t>
            </a:r>
            <a:r>
              <a:rPr lang="en-US" dirty="0"/>
              <a:t>is negative, 1 if </a:t>
            </a:r>
            <a:r>
              <a:rPr lang="en-US" b="1" dirty="0"/>
              <a:t>n</a:t>
            </a:r>
            <a:r>
              <a:rPr lang="en-US" dirty="0"/>
              <a:t> is positive and 0 if </a:t>
            </a:r>
            <a:r>
              <a:rPr lang="en-US" b="1" dirty="0"/>
              <a:t>n</a:t>
            </a:r>
            <a:r>
              <a:rPr lang="en-US" dirty="0"/>
              <a:t> is zero.</a:t>
            </a:r>
            <a:endParaRPr lang="en-IN" dirty="0"/>
          </a:p>
          <a:p>
            <a:pPr lvl="0"/>
            <a:r>
              <a:rPr lang="en-US" b="1" dirty="0"/>
              <a:t>Pi() : </a:t>
            </a:r>
            <a:r>
              <a:rPr lang="en-US" dirty="0"/>
              <a:t>Return mathematical constant pi value i.e. 3.14</a:t>
            </a:r>
            <a:endParaRPr lang="en-IN" dirty="0"/>
          </a:p>
          <a:p>
            <a:pPr lvl="0"/>
            <a:r>
              <a:rPr lang="en-US" b="1" dirty="0"/>
              <a:t>Round(</a:t>
            </a:r>
            <a:r>
              <a:rPr lang="en-US" b="1" dirty="0" err="1"/>
              <a:t>n,p,t</a:t>
            </a:r>
            <a:r>
              <a:rPr lang="en-US" b="1" dirty="0"/>
              <a:t>) : </a:t>
            </a:r>
            <a:r>
              <a:rPr lang="en-US" dirty="0"/>
              <a:t>Rounds the given in </a:t>
            </a:r>
            <a:r>
              <a:rPr lang="en-US" b="1" dirty="0"/>
              <a:t>n </a:t>
            </a:r>
            <a:r>
              <a:rPr lang="en-US" dirty="0"/>
              <a:t>to </a:t>
            </a:r>
            <a:r>
              <a:rPr lang="en-US" b="1" dirty="0"/>
              <a:t>p </a:t>
            </a:r>
            <a:r>
              <a:rPr lang="en-US" dirty="0"/>
              <a:t>decimal places. If </a:t>
            </a:r>
            <a:r>
              <a:rPr lang="en-US" b="1" dirty="0"/>
              <a:t>t </a:t>
            </a:r>
            <a:r>
              <a:rPr lang="en-US" dirty="0"/>
              <a:t>is specified as 1 then it truncates </a:t>
            </a:r>
            <a:r>
              <a:rPr lang="en-US" b="1" dirty="0"/>
              <a:t>n </a:t>
            </a:r>
            <a:r>
              <a:rPr lang="en-US" dirty="0"/>
              <a:t>to </a:t>
            </a:r>
            <a:r>
              <a:rPr lang="en-US" b="1" dirty="0"/>
              <a:t>p </a:t>
            </a:r>
            <a:r>
              <a:rPr lang="en-US" dirty="0"/>
              <a:t>decimal places instead of round the value.</a:t>
            </a:r>
            <a:endParaRPr lang="en-IN" dirty="0"/>
          </a:p>
          <a:p>
            <a:endParaRPr lang="en-IN" dirty="0"/>
          </a:p>
        </p:txBody>
      </p:sp>
    </p:spTree>
    <p:extLst>
      <p:ext uri="{BB962C8B-B14F-4D97-AF65-F5344CB8AC3E}">
        <p14:creationId xmlns:p14="http://schemas.microsoft.com/office/powerpoint/2010/main" val="8404525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BFD52-D54F-4755-894B-F96D26F2F3DE}"/>
              </a:ext>
            </a:extLst>
          </p:cNvPr>
          <p:cNvSpPr>
            <a:spLocks noGrp="1"/>
          </p:cNvSpPr>
          <p:nvPr>
            <p:ph type="title"/>
          </p:nvPr>
        </p:nvSpPr>
        <p:spPr/>
        <p:txBody>
          <a:bodyPr/>
          <a:lstStyle/>
          <a:p>
            <a:r>
              <a:rPr lang="en-US" b="1" u="words" dirty="0"/>
              <a:t>String Functions</a:t>
            </a:r>
            <a:r>
              <a:rPr lang="en-US" b="1" dirty="0"/>
              <a:t> :</a:t>
            </a:r>
            <a:endParaRPr lang="en-IN" dirty="0"/>
          </a:p>
        </p:txBody>
      </p:sp>
      <p:sp>
        <p:nvSpPr>
          <p:cNvPr id="3" name="Content Placeholder 2">
            <a:extLst>
              <a:ext uri="{FF2B5EF4-FFF2-40B4-BE49-F238E27FC236}">
                <a16:creationId xmlns:a16="http://schemas.microsoft.com/office/drawing/2014/main" id="{A87D869B-1358-4CC9-BB31-FCECE24F974A}"/>
              </a:ext>
            </a:extLst>
          </p:cNvPr>
          <p:cNvSpPr>
            <a:spLocks noGrp="1"/>
          </p:cNvSpPr>
          <p:nvPr>
            <p:ph idx="1"/>
          </p:nvPr>
        </p:nvSpPr>
        <p:spPr/>
        <p:txBody>
          <a:bodyPr>
            <a:normAutofit fontScale="92500" lnSpcReduction="10000"/>
          </a:bodyPr>
          <a:lstStyle/>
          <a:p>
            <a:r>
              <a:rPr lang="en-US" dirty="0"/>
              <a:t>The built-in functions of SQL that work on string type of data are called as string functions. String functions in SQL are as follows.</a:t>
            </a:r>
            <a:endParaRPr lang="en-IN" dirty="0"/>
          </a:p>
          <a:p>
            <a:pPr lvl="0"/>
            <a:r>
              <a:rPr lang="en-US" b="1" dirty="0"/>
              <a:t>ASCII(char) : </a:t>
            </a:r>
            <a:r>
              <a:rPr lang="en-US" dirty="0"/>
              <a:t>Converts the specified character to the equivalent ascii code.</a:t>
            </a:r>
            <a:endParaRPr lang="en-IN" dirty="0"/>
          </a:p>
          <a:p>
            <a:pPr lvl="0"/>
            <a:r>
              <a:rPr lang="en-US" b="1" dirty="0"/>
              <a:t>Char(</a:t>
            </a:r>
            <a:r>
              <a:rPr lang="en-US" b="1" dirty="0" err="1"/>
              <a:t>int</a:t>
            </a:r>
            <a:r>
              <a:rPr lang="en-US" b="1" dirty="0"/>
              <a:t>) :</a:t>
            </a:r>
            <a:r>
              <a:rPr lang="en-US" dirty="0"/>
              <a:t> Converts ascii code to the equivalent character.</a:t>
            </a:r>
            <a:endParaRPr lang="en-IN" dirty="0"/>
          </a:p>
          <a:p>
            <a:pPr lvl="0"/>
            <a:r>
              <a:rPr lang="en-US" b="1" dirty="0" err="1"/>
              <a:t>CharIndex</a:t>
            </a:r>
            <a:r>
              <a:rPr lang="en-US" b="1" dirty="0"/>
              <a:t>(s1,s2) : </a:t>
            </a:r>
            <a:r>
              <a:rPr lang="en-US" dirty="0"/>
              <a:t>returns the starting position where the partial string s1 first occurs in the string s2. Returns zero if s1 does not occur in s2.</a:t>
            </a:r>
            <a:endParaRPr lang="en-IN" dirty="0"/>
          </a:p>
          <a:p>
            <a:pPr lvl="0"/>
            <a:r>
              <a:rPr lang="en-US" b="1" dirty="0"/>
              <a:t>Lower(S1) : </a:t>
            </a:r>
            <a:r>
              <a:rPr lang="en-US" dirty="0"/>
              <a:t>Converts all uppercase letters of the string s1 to lower case letters.</a:t>
            </a:r>
            <a:endParaRPr lang="en-IN" dirty="0"/>
          </a:p>
          <a:p>
            <a:pPr lvl="0"/>
            <a:r>
              <a:rPr lang="en-US" b="1" dirty="0"/>
              <a:t>Upper(s1) : </a:t>
            </a:r>
            <a:r>
              <a:rPr lang="en-US" dirty="0"/>
              <a:t>Converts all lowercase letters of the string s1 to upper case letters.</a:t>
            </a:r>
            <a:endParaRPr lang="en-IN" dirty="0"/>
          </a:p>
          <a:p>
            <a:pPr lvl="0"/>
            <a:r>
              <a:rPr lang="en-US" b="1" dirty="0" err="1"/>
              <a:t>Ltrim</a:t>
            </a:r>
            <a:r>
              <a:rPr lang="en-US" b="1" dirty="0"/>
              <a:t>(s1) : </a:t>
            </a:r>
            <a:r>
              <a:rPr lang="en-US" dirty="0"/>
              <a:t>removes leading blank spaces in the string s1.</a:t>
            </a:r>
            <a:endParaRPr lang="en-IN" dirty="0"/>
          </a:p>
          <a:p>
            <a:endParaRPr lang="en-IN" dirty="0"/>
          </a:p>
        </p:txBody>
      </p:sp>
    </p:spTree>
    <p:extLst>
      <p:ext uri="{BB962C8B-B14F-4D97-AF65-F5344CB8AC3E}">
        <p14:creationId xmlns:p14="http://schemas.microsoft.com/office/powerpoint/2010/main" val="2438813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28D8A-4AE7-4C94-85E2-C119C3F4425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4199B48-BD31-4EB8-A3AD-5A41A0A5E2AE}"/>
              </a:ext>
            </a:extLst>
          </p:cNvPr>
          <p:cNvSpPr>
            <a:spLocks noGrp="1"/>
          </p:cNvSpPr>
          <p:nvPr>
            <p:ph idx="1"/>
          </p:nvPr>
        </p:nvSpPr>
        <p:spPr/>
        <p:txBody>
          <a:bodyPr>
            <a:normAutofit lnSpcReduction="10000"/>
          </a:bodyPr>
          <a:lstStyle/>
          <a:p>
            <a:pPr lvl="0"/>
            <a:r>
              <a:rPr lang="en-US" b="1" dirty="0" err="1"/>
              <a:t>Rtrim</a:t>
            </a:r>
            <a:r>
              <a:rPr lang="en-US" b="1" dirty="0"/>
              <a:t>(S1) : </a:t>
            </a:r>
            <a:r>
              <a:rPr lang="en-US" dirty="0"/>
              <a:t>Removes trailing blank spaces in the string s1.</a:t>
            </a:r>
            <a:endParaRPr lang="en-IN" dirty="0"/>
          </a:p>
          <a:p>
            <a:pPr lvl="0"/>
            <a:r>
              <a:rPr lang="en-US" b="1" dirty="0"/>
              <a:t>Reverse(S1) :</a:t>
            </a:r>
            <a:r>
              <a:rPr lang="en-US" dirty="0"/>
              <a:t> Reverses the string S1.</a:t>
            </a:r>
            <a:endParaRPr lang="en-IN" dirty="0"/>
          </a:p>
          <a:p>
            <a:pPr lvl="0"/>
            <a:r>
              <a:rPr lang="en-US" b="1" dirty="0"/>
              <a:t>Right(S1,Len) : </a:t>
            </a:r>
            <a:r>
              <a:rPr lang="en-US" dirty="0"/>
              <a:t>returns last Len characters from the string S1.</a:t>
            </a:r>
            <a:endParaRPr lang="en-IN" dirty="0"/>
          </a:p>
          <a:p>
            <a:pPr lvl="0"/>
            <a:r>
              <a:rPr lang="en-US" b="1" dirty="0"/>
              <a:t>Left(S1,Len) :</a:t>
            </a:r>
            <a:r>
              <a:rPr lang="en-US" dirty="0"/>
              <a:t> returns first </a:t>
            </a:r>
            <a:r>
              <a:rPr lang="en-US" dirty="0" err="1"/>
              <a:t>len</a:t>
            </a:r>
            <a:r>
              <a:rPr lang="en-US" dirty="0"/>
              <a:t> characters from the string S1.</a:t>
            </a:r>
            <a:endParaRPr lang="en-IN" dirty="0"/>
          </a:p>
          <a:p>
            <a:pPr lvl="0"/>
            <a:r>
              <a:rPr lang="en-US" b="1" dirty="0"/>
              <a:t>Soundex(a) : </a:t>
            </a:r>
            <a:r>
              <a:rPr lang="en-US" dirty="0"/>
              <a:t>Returns how the given string is pronounced in a four character </a:t>
            </a:r>
            <a:r>
              <a:rPr lang="en-US" dirty="0" err="1"/>
              <a:t>soundex</a:t>
            </a:r>
            <a:r>
              <a:rPr lang="en-US" dirty="0"/>
              <a:t> code.</a:t>
            </a:r>
            <a:endParaRPr lang="en-IN" dirty="0"/>
          </a:p>
          <a:p>
            <a:pPr lvl="0"/>
            <a:r>
              <a:rPr lang="en-US" b="1" dirty="0"/>
              <a:t>Stuff(s1,a,len,s2) :</a:t>
            </a:r>
            <a:r>
              <a:rPr lang="en-US" dirty="0"/>
              <a:t> Replaces the partial string s1 with the partial string s2 starting at position a, replacing </a:t>
            </a:r>
            <a:r>
              <a:rPr lang="en-US" dirty="0" err="1"/>
              <a:t>len</a:t>
            </a:r>
            <a:r>
              <a:rPr lang="en-US" dirty="0"/>
              <a:t> characters of s1.</a:t>
            </a:r>
            <a:endParaRPr lang="en-IN" dirty="0"/>
          </a:p>
          <a:p>
            <a:pPr lvl="0"/>
            <a:r>
              <a:rPr lang="en-US" b="1" dirty="0"/>
              <a:t>Substring(S1,a,len) : </a:t>
            </a:r>
            <a:r>
              <a:rPr lang="en-US" dirty="0"/>
              <a:t>creates a partial string from string s1 starting at the position a with a length of </a:t>
            </a:r>
            <a:r>
              <a:rPr lang="en-US" dirty="0" err="1"/>
              <a:t>len</a:t>
            </a:r>
            <a:r>
              <a:rPr lang="en-US" dirty="0"/>
              <a:t>.</a:t>
            </a:r>
            <a:endParaRPr lang="en-IN" dirty="0"/>
          </a:p>
          <a:p>
            <a:endParaRPr lang="en-IN" dirty="0"/>
          </a:p>
        </p:txBody>
      </p:sp>
    </p:spTree>
    <p:extLst>
      <p:ext uri="{BB962C8B-B14F-4D97-AF65-F5344CB8AC3E}">
        <p14:creationId xmlns:p14="http://schemas.microsoft.com/office/powerpoint/2010/main" val="12997957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D3579-40D4-4E29-9594-EAFB02FA4EC2}"/>
              </a:ext>
            </a:extLst>
          </p:cNvPr>
          <p:cNvSpPr>
            <a:spLocks noGrp="1"/>
          </p:cNvSpPr>
          <p:nvPr>
            <p:ph type="title"/>
          </p:nvPr>
        </p:nvSpPr>
        <p:spPr/>
        <p:txBody>
          <a:bodyPr/>
          <a:lstStyle/>
          <a:p>
            <a:r>
              <a:rPr lang="en-US" b="1" u="words" dirty="0"/>
              <a:t>Date Functions</a:t>
            </a:r>
            <a:r>
              <a:rPr lang="en-US" b="1" dirty="0"/>
              <a:t> :</a:t>
            </a:r>
            <a:endParaRPr lang="en-IN" dirty="0"/>
          </a:p>
        </p:txBody>
      </p:sp>
      <p:sp>
        <p:nvSpPr>
          <p:cNvPr id="3" name="Content Placeholder 2">
            <a:extLst>
              <a:ext uri="{FF2B5EF4-FFF2-40B4-BE49-F238E27FC236}">
                <a16:creationId xmlns:a16="http://schemas.microsoft.com/office/drawing/2014/main" id="{6738D30F-3320-4EB9-8317-FFE3F4ACC476}"/>
              </a:ext>
            </a:extLst>
          </p:cNvPr>
          <p:cNvSpPr>
            <a:spLocks noGrp="1"/>
          </p:cNvSpPr>
          <p:nvPr>
            <p:ph idx="1"/>
          </p:nvPr>
        </p:nvSpPr>
        <p:spPr/>
        <p:txBody>
          <a:bodyPr>
            <a:normAutofit fontScale="92500" lnSpcReduction="10000"/>
          </a:bodyPr>
          <a:lstStyle/>
          <a:p>
            <a:r>
              <a:rPr lang="en-US" dirty="0"/>
              <a:t>The built-in functions of SQL that work on date type of data are called as date functions and date functions in SQL server are as follows.</a:t>
            </a:r>
            <a:endParaRPr lang="en-IN" dirty="0"/>
          </a:p>
          <a:p>
            <a:pPr lvl="0"/>
            <a:r>
              <a:rPr lang="en-US" b="1" dirty="0" err="1"/>
              <a:t>GetDate</a:t>
            </a:r>
            <a:r>
              <a:rPr lang="en-US" b="1" dirty="0"/>
              <a:t>() : </a:t>
            </a:r>
            <a:r>
              <a:rPr lang="en-US" dirty="0"/>
              <a:t>Returns the current system date and time.</a:t>
            </a:r>
            <a:endParaRPr lang="en-IN" dirty="0"/>
          </a:p>
          <a:p>
            <a:pPr lvl="0"/>
            <a:r>
              <a:rPr lang="en-US" b="1" dirty="0" err="1"/>
              <a:t>DatePart</a:t>
            </a:r>
            <a:r>
              <a:rPr lang="en-US" b="1" dirty="0"/>
              <a:t>(</a:t>
            </a:r>
            <a:r>
              <a:rPr lang="en-US" b="1" dirty="0" err="1"/>
              <a:t>item,D</a:t>
            </a:r>
            <a:r>
              <a:rPr lang="en-US" b="1" dirty="0"/>
              <a:t>) :</a:t>
            </a:r>
            <a:r>
              <a:rPr lang="en-US" dirty="0"/>
              <a:t> returns the specified part item of a date D as an integer.</a:t>
            </a:r>
            <a:endParaRPr lang="en-IN" dirty="0"/>
          </a:p>
          <a:p>
            <a:pPr lvl="0"/>
            <a:r>
              <a:rPr lang="en-US" b="1" dirty="0" err="1"/>
              <a:t>DateName</a:t>
            </a:r>
            <a:r>
              <a:rPr lang="en-US" b="1" dirty="0"/>
              <a:t>(</a:t>
            </a:r>
            <a:r>
              <a:rPr lang="en-US" b="1" dirty="0" err="1"/>
              <a:t>item,D</a:t>
            </a:r>
            <a:r>
              <a:rPr lang="en-US" b="1" dirty="0"/>
              <a:t>) :</a:t>
            </a:r>
            <a:r>
              <a:rPr lang="en-US" dirty="0"/>
              <a:t> returns the specified part item of the date D as a string.</a:t>
            </a:r>
            <a:endParaRPr lang="en-IN" dirty="0"/>
          </a:p>
          <a:p>
            <a:pPr lvl="0"/>
            <a:r>
              <a:rPr lang="en-US" b="1" dirty="0" err="1"/>
              <a:t>DateDiff</a:t>
            </a:r>
            <a:r>
              <a:rPr lang="en-US" b="1" dirty="0"/>
              <a:t>(item,D1,D2) :</a:t>
            </a:r>
            <a:r>
              <a:rPr lang="en-US" dirty="0"/>
              <a:t> calculates the difference between the two date parts D1 and D2 and returns the result as an integer in units specified by the value item.</a:t>
            </a:r>
            <a:endParaRPr lang="en-IN" dirty="0"/>
          </a:p>
          <a:p>
            <a:pPr lvl="0"/>
            <a:r>
              <a:rPr lang="en-US" b="1" dirty="0" err="1"/>
              <a:t>DateAdd</a:t>
            </a:r>
            <a:r>
              <a:rPr lang="en-US" b="1" dirty="0"/>
              <a:t>(</a:t>
            </a:r>
            <a:r>
              <a:rPr lang="en-US" b="1" dirty="0" err="1"/>
              <a:t>item,n,D</a:t>
            </a:r>
            <a:r>
              <a:rPr lang="en-US" b="1" dirty="0"/>
              <a:t>) :</a:t>
            </a:r>
            <a:r>
              <a:rPr lang="en-US" dirty="0"/>
              <a:t> Adds the number n of units specified by the value item to the given date D.</a:t>
            </a:r>
            <a:endParaRPr lang="en-IN" dirty="0"/>
          </a:p>
          <a:p>
            <a:endParaRPr lang="en-IN" dirty="0"/>
          </a:p>
        </p:txBody>
      </p:sp>
    </p:spTree>
    <p:extLst>
      <p:ext uri="{BB962C8B-B14F-4D97-AF65-F5344CB8AC3E}">
        <p14:creationId xmlns:p14="http://schemas.microsoft.com/office/powerpoint/2010/main" val="21740535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475C7-2C32-4E2E-85F9-0CF88ACAD9FD}"/>
              </a:ext>
            </a:extLst>
          </p:cNvPr>
          <p:cNvSpPr>
            <a:spLocks noGrp="1"/>
          </p:cNvSpPr>
          <p:nvPr>
            <p:ph type="title"/>
          </p:nvPr>
        </p:nvSpPr>
        <p:spPr/>
        <p:txBody>
          <a:bodyPr/>
          <a:lstStyle/>
          <a:p>
            <a:r>
              <a:rPr lang="en-US" b="1" u="words" dirty="0"/>
              <a:t>Conversion Functions </a:t>
            </a:r>
            <a:r>
              <a:rPr lang="en-US" b="1" dirty="0"/>
              <a:t>:</a:t>
            </a:r>
            <a:endParaRPr lang="en-IN" dirty="0"/>
          </a:p>
        </p:txBody>
      </p:sp>
      <p:sp>
        <p:nvSpPr>
          <p:cNvPr id="3" name="Content Placeholder 2">
            <a:extLst>
              <a:ext uri="{FF2B5EF4-FFF2-40B4-BE49-F238E27FC236}">
                <a16:creationId xmlns:a16="http://schemas.microsoft.com/office/drawing/2014/main" id="{1404CA89-50C8-49D6-B944-491F666E23CF}"/>
              </a:ext>
            </a:extLst>
          </p:cNvPr>
          <p:cNvSpPr>
            <a:spLocks noGrp="1"/>
          </p:cNvSpPr>
          <p:nvPr>
            <p:ph idx="1"/>
          </p:nvPr>
        </p:nvSpPr>
        <p:spPr/>
        <p:txBody>
          <a:bodyPr/>
          <a:lstStyle/>
          <a:p>
            <a:r>
              <a:rPr lang="en-US" dirty="0"/>
              <a:t>The Built-In functions of SQL Server that are used to convert one type of data to another are called as conversion functions and conversion functions in SQL Server are as follows.</a:t>
            </a:r>
            <a:endParaRPr lang="en-IN" dirty="0"/>
          </a:p>
          <a:p>
            <a:pPr lvl="0"/>
            <a:r>
              <a:rPr lang="en-US" b="1" dirty="0"/>
              <a:t>Cast(a as type[(length)]) : </a:t>
            </a:r>
            <a:r>
              <a:rPr lang="en-US" dirty="0"/>
              <a:t>converts an expression a into the specified data type </a:t>
            </a:r>
            <a:r>
              <a:rPr lang="en-US" dirty="0" err="1"/>
              <a:t>type</a:t>
            </a:r>
            <a:r>
              <a:rPr lang="en-US" dirty="0"/>
              <a:t>.</a:t>
            </a:r>
            <a:endParaRPr lang="en-IN" dirty="0"/>
          </a:p>
          <a:p>
            <a:pPr lvl="0"/>
            <a:r>
              <a:rPr lang="en-US" b="1" dirty="0"/>
              <a:t>Convert(type[(length}],a) :</a:t>
            </a:r>
            <a:r>
              <a:rPr lang="en-US" dirty="0"/>
              <a:t> Equivalent to cast, but the arguments are specified differently.</a:t>
            </a:r>
            <a:endParaRPr lang="en-IN" dirty="0"/>
          </a:p>
          <a:p>
            <a:endParaRPr lang="en-IN" dirty="0"/>
          </a:p>
        </p:txBody>
      </p:sp>
    </p:spTree>
    <p:extLst>
      <p:ext uri="{BB962C8B-B14F-4D97-AF65-F5344CB8AC3E}">
        <p14:creationId xmlns:p14="http://schemas.microsoft.com/office/powerpoint/2010/main" val="7645840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11DE8-A21E-412C-9738-A5A3BD41CB1E}"/>
              </a:ext>
            </a:extLst>
          </p:cNvPr>
          <p:cNvSpPr>
            <a:spLocks noGrp="1"/>
          </p:cNvSpPr>
          <p:nvPr>
            <p:ph type="title"/>
          </p:nvPr>
        </p:nvSpPr>
        <p:spPr/>
        <p:txBody>
          <a:bodyPr/>
          <a:lstStyle/>
          <a:p>
            <a:r>
              <a:rPr lang="en-US" b="1" u="words" dirty="0"/>
              <a:t>System Functions</a:t>
            </a:r>
            <a:r>
              <a:rPr lang="en-US" b="1" dirty="0"/>
              <a:t> :</a:t>
            </a:r>
            <a:endParaRPr lang="en-IN" dirty="0"/>
          </a:p>
        </p:txBody>
      </p:sp>
      <p:sp>
        <p:nvSpPr>
          <p:cNvPr id="3" name="Content Placeholder 2">
            <a:extLst>
              <a:ext uri="{FF2B5EF4-FFF2-40B4-BE49-F238E27FC236}">
                <a16:creationId xmlns:a16="http://schemas.microsoft.com/office/drawing/2014/main" id="{31700CBF-B3A5-4270-B1C1-E5F4697C9389}"/>
              </a:ext>
            </a:extLst>
          </p:cNvPr>
          <p:cNvSpPr>
            <a:spLocks noGrp="1"/>
          </p:cNvSpPr>
          <p:nvPr>
            <p:ph idx="1"/>
          </p:nvPr>
        </p:nvSpPr>
        <p:spPr/>
        <p:txBody>
          <a:bodyPr>
            <a:normAutofit fontScale="70000" lnSpcReduction="20000"/>
          </a:bodyPr>
          <a:lstStyle/>
          <a:p>
            <a:r>
              <a:rPr lang="en-US" dirty="0"/>
              <a:t>The SQL Server system functions provide extensive information about database objects.</a:t>
            </a:r>
            <a:endParaRPr lang="en-IN" dirty="0"/>
          </a:p>
          <a:p>
            <a:pPr lvl="0"/>
            <a:r>
              <a:rPr lang="en-US" b="1" dirty="0" err="1"/>
              <a:t>Object_ID</a:t>
            </a:r>
            <a:r>
              <a:rPr lang="en-US" b="1" dirty="0"/>
              <a:t>(</a:t>
            </a:r>
            <a:r>
              <a:rPr lang="en-US" b="1" dirty="0" err="1"/>
              <a:t>objname</a:t>
            </a:r>
            <a:r>
              <a:rPr lang="en-US" b="1" dirty="0"/>
              <a:t>) : </a:t>
            </a:r>
            <a:r>
              <a:rPr lang="en-US" dirty="0"/>
              <a:t>returns the identifier of the database object </a:t>
            </a:r>
            <a:r>
              <a:rPr lang="en-US" dirty="0" err="1"/>
              <a:t>objname</a:t>
            </a:r>
            <a:r>
              <a:rPr lang="en-US" dirty="0"/>
              <a:t>.</a:t>
            </a:r>
            <a:endParaRPr lang="en-IN" dirty="0"/>
          </a:p>
          <a:p>
            <a:pPr lvl="0"/>
            <a:r>
              <a:rPr lang="en-US" b="1" dirty="0" err="1"/>
              <a:t>Object_name</a:t>
            </a:r>
            <a:r>
              <a:rPr lang="en-US" b="1" dirty="0"/>
              <a:t>(</a:t>
            </a:r>
            <a:r>
              <a:rPr lang="en-US" b="1" dirty="0" err="1"/>
              <a:t>obj_id</a:t>
            </a:r>
            <a:r>
              <a:rPr lang="en-US" b="1" dirty="0"/>
              <a:t>) :</a:t>
            </a:r>
            <a:r>
              <a:rPr lang="en-US" dirty="0"/>
              <a:t> returns the name of the database object with id </a:t>
            </a:r>
            <a:r>
              <a:rPr lang="en-US" dirty="0" err="1"/>
              <a:t>obj_id</a:t>
            </a:r>
            <a:r>
              <a:rPr lang="en-US" dirty="0"/>
              <a:t>.</a:t>
            </a:r>
            <a:endParaRPr lang="en-IN" dirty="0"/>
          </a:p>
          <a:p>
            <a:pPr lvl="0"/>
            <a:r>
              <a:rPr lang="en-US" b="1" dirty="0" err="1"/>
              <a:t>Col_Name</a:t>
            </a:r>
            <a:r>
              <a:rPr lang="en-US" b="1" dirty="0"/>
              <a:t>(</a:t>
            </a:r>
            <a:r>
              <a:rPr lang="en-US" b="1" dirty="0" err="1"/>
              <a:t>Obj_Id,S_Id</a:t>
            </a:r>
            <a:r>
              <a:rPr lang="en-US" b="1" dirty="0"/>
              <a:t>) : </a:t>
            </a:r>
            <a:r>
              <a:rPr lang="en-US" dirty="0"/>
              <a:t>returns the name of the column belonging to the object </a:t>
            </a:r>
            <a:r>
              <a:rPr lang="en-US" dirty="0" err="1"/>
              <a:t>obj_id</a:t>
            </a:r>
            <a:r>
              <a:rPr lang="en-US" dirty="0"/>
              <a:t> with the identifier </a:t>
            </a:r>
            <a:r>
              <a:rPr lang="en-US" dirty="0" err="1"/>
              <a:t>s_id</a:t>
            </a:r>
            <a:r>
              <a:rPr lang="en-US" dirty="0"/>
              <a:t>.</a:t>
            </a:r>
            <a:endParaRPr lang="en-IN" dirty="0"/>
          </a:p>
          <a:p>
            <a:pPr lvl="0"/>
            <a:r>
              <a:rPr lang="en-US" b="1" dirty="0" err="1"/>
              <a:t>Col_Length</a:t>
            </a:r>
            <a:r>
              <a:rPr lang="en-US" b="1" dirty="0"/>
              <a:t>(</a:t>
            </a:r>
            <a:r>
              <a:rPr lang="en-US" b="1" dirty="0" err="1"/>
              <a:t>obj,Col</a:t>
            </a:r>
            <a:r>
              <a:rPr lang="en-US" b="1" dirty="0"/>
              <a:t>) :</a:t>
            </a:r>
            <a:r>
              <a:rPr lang="en-US" dirty="0"/>
              <a:t> returns the length of the column belonging to a database object obj.</a:t>
            </a:r>
            <a:endParaRPr lang="en-IN" dirty="0"/>
          </a:p>
          <a:p>
            <a:pPr lvl="0"/>
            <a:r>
              <a:rPr lang="en-US" b="1" dirty="0" err="1"/>
              <a:t>Datalength</a:t>
            </a:r>
            <a:r>
              <a:rPr lang="en-US" b="1" dirty="0"/>
              <a:t>(s1) :</a:t>
            </a:r>
            <a:r>
              <a:rPr lang="en-US" dirty="0"/>
              <a:t> calculates the length of the result of the expression s1.</a:t>
            </a:r>
            <a:endParaRPr lang="en-IN" dirty="0"/>
          </a:p>
          <a:p>
            <a:pPr lvl="0"/>
            <a:r>
              <a:rPr lang="en-US" b="1" dirty="0" err="1"/>
              <a:t>DB_Id</a:t>
            </a:r>
            <a:r>
              <a:rPr lang="en-US" b="1" dirty="0"/>
              <a:t>(</a:t>
            </a:r>
            <a:r>
              <a:rPr lang="en-US" b="1" dirty="0" err="1"/>
              <a:t>Db_name</a:t>
            </a:r>
            <a:r>
              <a:rPr lang="en-US" b="1" dirty="0"/>
              <a:t>) : </a:t>
            </a:r>
            <a:r>
              <a:rPr lang="en-US" dirty="0"/>
              <a:t>returns the id of the database </a:t>
            </a:r>
            <a:r>
              <a:rPr lang="en-US" dirty="0" err="1"/>
              <a:t>db_name</a:t>
            </a:r>
            <a:r>
              <a:rPr lang="en-US" dirty="0"/>
              <a:t>.</a:t>
            </a:r>
            <a:endParaRPr lang="en-IN" dirty="0"/>
          </a:p>
          <a:p>
            <a:pPr lvl="0"/>
            <a:r>
              <a:rPr lang="en-US" b="1" dirty="0" err="1"/>
              <a:t>DB_Name</a:t>
            </a:r>
            <a:r>
              <a:rPr lang="en-US" b="1" dirty="0"/>
              <a:t>(</a:t>
            </a:r>
            <a:r>
              <a:rPr lang="en-US" b="1" dirty="0" err="1"/>
              <a:t>Db_id</a:t>
            </a:r>
            <a:r>
              <a:rPr lang="en-US" b="1" dirty="0"/>
              <a:t>) :</a:t>
            </a:r>
            <a:r>
              <a:rPr lang="en-US" dirty="0"/>
              <a:t> returns the name of the database with id </a:t>
            </a:r>
            <a:r>
              <a:rPr lang="en-US" dirty="0" err="1"/>
              <a:t>Db_id</a:t>
            </a:r>
            <a:r>
              <a:rPr lang="en-US" dirty="0"/>
              <a:t>.</a:t>
            </a:r>
            <a:endParaRPr lang="en-IN" dirty="0"/>
          </a:p>
          <a:p>
            <a:pPr lvl="0"/>
            <a:r>
              <a:rPr lang="en-US" b="1" dirty="0" err="1"/>
              <a:t>User_Id</a:t>
            </a:r>
            <a:r>
              <a:rPr lang="en-US" b="1" dirty="0"/>
              <a:t>(username) :</a:t>
            </a:r>
            <a:r>
              <a:rPr lang="en-US" dirty="0"/>
              <a:t> returns the id of specified user name.</a:t>
            </a:r>
            <a:endParaRPr lang="en-IN" dirty="0"/>
          </a:p>
          <a:p>
            <a:pPr lvl="0"/>
            <a:r>
              <a:rPr lang="en-US" b="1" dirty="0" err="1"/>
              <a:t>user_name</a:t>
            </a:r>
            <a:r>
              <a:rPr lang="en-US" b="1" dirty="0"/>
              <a:t>(</a:t>
            </a:r>
            <a:r>
              <a:rPr lang="en-US" b="1" dirty="0" err="1"/>
              <a:t>uid</a:t>
            </a:r>
            <a:r>
              <a:rPr lang="en-US" b="1" dirty="0"/>
              <a:t>) :</a:t>
            </a:r>
            <a:r>
              <a:rPr lang="en-US" dirty="0"/>
              <a:t> returns the name of the user with id </a:t>
            </a:r>
            <a:r>
              <a:rPr lang="en-US" dirty="0" err="1"/>
              <a:t>uid</a:t>
            </a:r>
            <a:r>
              <a:rPr lang="en-US" dirty="0"/>
              <a:t>.</a:t>
            </a:r>
            <a:endParaRPr lang="en-IN" dirty="0"/>
          </a:p>
          <a:p>
            <a:pPr lvl="0"/>
            <a:r>
              <a:rPr lang="en-US" b="1" dirty="0" err="1"/>
              <a:t>Current_TimeStamp</a:t>
            </a:r>
            <a:r>
              <a:rPr lang="en-US" b="1" dirty="0"/>
              <a:t> :</a:t>
            </a:r>
            <a:r>
              <a:rPr lang="en-US" dirty="0"/>
              <a:t> returns the current date and time.</a:t>
            </a:r>
            <a:endParaRPr lang="en-IN" dirty="0"/>
          </a:p>
          <a:p>
            <a:endParaRPr lang="en-IN" dirty="0"/>
          </a:p>
        </p:txBody>
      </p:sp>
    </p:spTree>
    <p:extLst>
      <p:ext uri="{BB962C8B-B14F-4D97-AF65-F5344CB8AC3E}">
        <p14:creationId xmlns:p14="http://schemas.microsoft.com/office/powerpoint/2010/main" val="34932555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F5D53-5513-4537-AF8D-BB1E9B50EC13}"/>
              </a:ext>
            </a:extLst>
          </p:cNvPr>
          <p:cNvSpPr>
            <a:spLocks noGrp="1"/>
          </p:cNvSpPr>
          <p:nvPr>
            <p:ph type="title"/>
          </p:nvPr>
        </p:nvSpPr>
        <p:spPr/>
        <p:txBody>
          <a:bodyPr/>
          <a:lstStyle/>
          <a:p>
            <a:r>
              <a:rPr lang="en-US" b="1" u="words" dirty="0"/>
              <a:t>Aggregate Functions</a:t>
            </a:r>
            <a:r>
              <a:rPr lang="en-US" b="1" dirty="0"/>
              <a:t> :</a:t>
            </a:r>
            <a:endParaRPr lang="en-IN" dirty="0"/>
          </a:p>
        </p:txBody>
      </p:sp>
      <p:sp>
        <p:nvSpPr>
          <p:cNvPr id="3" name="Content Placeholder 2">
            <a:extLst>
              <a:ext uri="{FF2B5EF4-FFF2-40B4-BE49-F238E27FC236}">
                <a16:creationId xmlns:a16="http://schemas.microsoft.com/office/drawing/2014/main" id="{951F03E3-85CA-4C92-837B-A70ADA273296}"/>
              </a:ext>
            </a:extLst>
          </p:cNvPr>
          <p:cNvSpPr>
            <a:spLocks noGrp="1"/>
          </p:cNvSpPr>
          <p:nvPr>
            <p:ph idx="1"/>
          </p:nvPr>
        </p:nvSpPr>
        <p:spPr/>
        <p:txBody>
          <a:bodyPr/>
          <a:lstStyle/>
          <a:p>
            <a:r>
              <a:rPr lang="en-US" dirty="0"/>
              <a:t>The Built-In Functions of SQL Server that operate on a set of values are called as aggregate functions. Aggregate functions are again classified into following categories.</a:t>
            </a:r>
            <a:endParaRPr lang="en-IN" dirty="0"/>
          </a:p>
          <a:p>
            <a:pPr lvl="0"/>
            <a:r>
              <a:rPr lang="en-US" dirty="0"/>
              <a:t>Convenient Aggregate Functions</a:t>
            </a:r>
            <a:endParaRPr lang="en-IN" dirty="0"/>
          </a:p>
          <a:p>
            <a:pPr lvl="0"/>
            <a:r>
              <a:rPr lang="en-US" dirty="0"/>
              <a:t>Statistical Aggregate Functions</a:t>
            </a:r>
            <a:endParaRPr lang="en-IN" dirty="0"/>
          </a:p>
          <a:p>
            <a:pPr lvl="0"/>
            <a:r>
              <a:rPr lang="en-US" dirty="0"/>
              <a:t>Super Aggregates</a:t>
            </a:r>
            <a:endParaRPr lang="en-IN" dirty="0"/>
          </a:p>
          <a:p>
            <a:endParaRPr lang="en-IN" dirty="0"/>
          </a:p>
        </p:txBody>
      </p:sp>
    </p:spTree>
    <p:extLst>
      <p:ext uri="{BB962C8B-B14F-4D97-AF65-F5344CB8AC3E}">
        <p14:creationId xmlns:p14="http://schemas.microsoft.com/office/powerpoint/2010/main" val="16661964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6C2C7-BDE3-4B3E-9A8C-326F93A0FEA8}"/>
              </a:ext>
            </a:extLst>
          </p:cNvPr>
          <p:cNvSpPr>
            <a:spLocks noGrp="1"/>
          </p:cNvSpPr>
          <p:nvPr>
            <p:ph type="title"/>
          </p:nvPr>
        </p:nvSpPr>
        <p:spPr/>
        <p:txBody>
          <a:bodyPr/>
          <a:lstStyle/>
          <a:p>
            <a:r>
              <a:rPr lang="en-US" b="1" u="words" dirty="0"/>
              <a:t>Convenient Aggregate Functions</a:t>
            </a:r>
            <a:r>
              <a:rPr lang="en-US" b="1" dirty="0"/>
              <a:t> : </a:t>
            </a:r>
            <a:endParaRPr lang="en-IN" dirty="0"/>
          </a:p>
        </p:txBody>
      </p:sp>
      <p:sp>
        <p:nvSpPr>
          <p:cNvPr id="3" name="Content Placeholder 2">
            <a:extLst>
              <a:ext uri="{FF2B5EF4-FFF2-40B4-BE49-F238E27FC236}">
                <a16:creationId xmlns:a16="http://schemas.microsoft.com/office/drawing/2014/main" id="{B726B4DA-AADA-43CC-915C-8F61632B645A}"/>
              </a:ext>
            </a:extLst>
          </p:cNvPr>
          <p:cNvSpPr>
            <a:spLocks noGrp="1"/>
          </p:cNvSpPr>
          <p:nvPr>
            <p:ph idx="1"/>
          </p:nvPr>
        </p:nvSpPr>
        <p:spPr/>
        <p:txBody>
          <a:bodyPr/>
          <a:lstStyle/>
          <a:p>
            <a:pPr marL="457200" lvl="1" indent="0">
              <a:buNone/>
            </a:pPr>
            <a:r>
              <a:rPr lang="en-US" b="1" dirty="0"/>
              <a:t>Sum(Col) : </a:t>
            </a:r>
            <a:r>
              <a:rPr lang="en-US" dirty="0"/>
              <a:t>Returns the sum of all values in the specified column.</a:t>
            </a:r>
            <a:endParaRPr lang="en-IN" dirty="0"/>
          </a:p>
          <a:p>
            <a:pPr marL="457200" lvl="1" indent="0">
              <a:buNone/>
            </a:pPr>
            <a:r>
              <a:rPr lang="en-US" b="1" dirty="0" err="1"/>
              <a:t>Avg</a:t>
            </a:r>
            <a:r>
              <a:rPr lang="en-US" b="1" dirty="0"/>
              <a:t>(Col) : </a:t>
            </a:r>
            <a:r>
              <a:rPr lang="en-US" dirty="0"/>
              <a:t>Returns average of all values in the given column.</a:t>
            </a:r>
            <a:endParaRPr lang="en-IN" dirty="0"/>
          </a:p>
          <a:p>
            <a:pPr marL="457200" lvl="1" indent="0">
              <a:buNone/>
            </a:pPr>
            <a:r>
              <a:rPr lang="en-US" b="1" dirty="0"/>
              <a:t>Max(Col) : </a:t>
            </a:r>
            <a:r>
              <a:rPr lang="en-US" dirty="0"/>
              <a:t>Returns the highest value among all values in the given column.</a:t>
            </a:r>
            <a:endParaRPr lang="en-IN" dirty="0"/>
          </a:p>
          <a:p>
            <a:pPr marL="457200" lvl="1" indent="0">
              <a:buNone/>
            </a:pPr>
            <a:r>
              <a:rPr lang="en-US" b="1" dirty="0"/>
              <a:t>Min(Col) : </a:t>
            </a:r>
            <a:r>
              <a:rPr lang="en-US" dirty="0"/>
              <a:t>Returns the smallest value among all values in the given column.</a:t>
            </a:r>
            <a:endParaRPr lang="en-IN" dirty="0"/>
          </a:p>
          <a:p>
            <a:pPr marL="457200" lvl="1" indent="0">
              <a:buNone/>
            </a:pPr>
            <a:r>
              <a:rPr lang="en-US" b="1" dirty="0"/>
              <a:t>Count(*)/</a:t>
            </a:r>
            <a:r>
              <a:rPr lang="en-US" b="1" dirty="0" err="1"/>
              <a:t>Count_Big</a:t>
            </a:r>
            <a:r>
              <a:rPr lang="en-US" b="1" dirty="0"/>
              <a:t>(*) : </a:t>
            </a:r>
            <a:r>
              <a:rPr lang="en-US" dirty="0"/>
              <a:t>Returns the total no. of rows in the given table.</a:t>
            </a:r>
            <a:endParaRPr lang="en-IN" dirty="0"/>
          </a:p>
          <a:p>
            <a:pPr marL="457200" lvl="1" indent="0">
              <a:buNone/>
            </a:pPr>
            <a:r>
              <a:rPr lang="en-US" b="1" dirty="0"/>
              <a:t>Count(Col)/</a:t>
            </a:r>
            <a:r>
              <a:rPr lang="en-US" b="1" dirty="0" err="1"/>
              <a:t>Count_Big</a:t>
            </a:r>
            <a:r>
              <a:rPr lang="en-US" b="1" dirty="0"/>
              <a:t>(Col) : </a:t>
            </a:r>
            <a:r>
              <a:rPr lang="en-US" dirty="0"/>
              <a:t>Returns the no. of non-null values in the given column.</a:t>
            </a:r>
            <a:endParaRPr lang="en-IN" dirty="0"/>
          </a:p>
          <a:p>
            <a:endParaRPr lang="en-IN" dirty="0"/>
          </a:p>
        </p:txBody>
      </p:sp>
    </p:spTree>
    <p:extLst>
      <p:ext uri="{BB962C8B-B14F-4D97-AF65-F5344CB8AC3E}">
        <p14:creationId xmlns:p14="http://schemas.microsoft.com/office/powerpoint/2010/main" val="1674938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5AEDC-FC03-4678-98A0-E9A1ADB470DA}"/>
              </a:ext>
            </a:extLst>
          </p:cNvPr>
          <p:cNvSpPr>
            <a:spLocks noGrp="1"/>
          </p:cNvSpPr>
          <p:nvPr>
            <p:ph type="title"/>
          </p:nvPr>
        </p:nvSpPr>
        <p:spPr>
          <a:xfrm>
            <a:off x="838200" y="365125"/>
            <a:ext cx="10515600" cy="832079"/>
          </a:xfrm>
        </p:spPr>
        <p:txBody>
          <a:bodyPr/>
          <a:lstStyle/>
          <a:p>
            <a:r>
              <a:rPr lang="en-US" b="1" u="words" dirty="0"/>
              <a:t>Group By</a:t>
            </a:r>
            <a:r>
              <a:rPr lang="en-US" b="1" dirty="0"/>
              <a:t> :</a:t>
            </a:r>
            <a:endParaRPr lang="en-IN" dirty="0"/>
          </a:p>
        </p:txBody>
      </p:sp>
      <p:sp>
        <p:nvSpPr>
          <p:cNvPr id="3" name="Content Placeholder 2">
            <a:extLst>
              <a:ext uri="{FF2B5EF4-FFF2-40B4-BE49-F238E27FC236}">
                <a16:creationId xmlns:a16="http://schemas.microsoft.com/office/drawing/2014/main" id="{42E78E6C-B9F8-46F8-AD85-A3F94A63C896}"/>
              </a:ext>
            </a:extLst>
          </p:cNvPr>
          <p:cNvSpPr>
            <a:spLocks noGrp="1"/>
          </p:cNvSpPr>
          <p:nvPr>
            <p:ph idx="1"/>
          </p:nvPr>
        </p:nvSpPr>
        <p:spPr>
          <a:xfrm>
            <a:off x="838200" y="1197204"/>
            <a:ext cx="10515600" cy="4979759"/>
          </a:xfrm>
        </p:spPr>
        <p:txBody>
          <a:bodyPr>
            <a:normAutofit fontScale="92500" lnSpcReduction="20000"/>
          </a:bodyPr>
          <a:lstStyle/>
          <a:p>
            <a:pPr marL="0" indent="0">
              <a:buNone/>
            </a:pPr>
            <a:r>
              <a:rPr lang="en-US" b="1" dirty="0"/>
              <a:t> </a:t>
            </a:r>
            <a:r>
              <a:rPr lang="en-US" dirty="0"/>
              <a:t>Group By is used to group the rows of table based on values of a given column and applies the aggregate function on each group separately. </a:t>
            </a:r>
            <a:endParaRPr lang="en-IN" dirty="0"/>
          </a:p>
          <a:p>
            <a:r>
              <a:rPr lang="en-US" b="1" dirty="0"/>
              <a:t>Examples:</a:t>
            </a:r>
            <a:r>
              <a:rPr lang="en-US" dirty="0"/>
              <a:t> </a:t>
            </a:r>
            <a:endParaRPr lang="en-IN" dirty="0"/>
          </a:p>
          <a:p>
            <a:r>
              <a:rPr lang="en-US" b="1" dirty="0" err="1"/>
              <a:t>i</a:t>
            </a:r>
            <a:r>
              <a:rPr lang="en-US" b="1" dirty="0"/>
              <a:t>. calculate sum of salaries of employees department wise </a:t>
            </a:r>
            <a:endParaRPr lang="en-IN" dirty="0"/>
          </a:p>
          <a:p>
            <a:r>
              <a:rPr lang="en-US" dirty="0"/>
              <a:t>Select </a:t>
            </a:r>
            <a:r>
              <a:rPr lang="en-US" dirty="0" err="1"/>
              <a:t>Deptno,Sum</a:t>
            </a:r>
            <a:r>
              <a:rPr lang="en-US" dirty="0"/>
              <a:t>(Sal) from </a:t>
            </a:r>
            <a:r>
              <a:rPr lang="en-US" dirty="0" err="1"/>
              <a:t>emp</a:t>
            </a:r>
            <a:r>
              <a:rPr lang="en-US" dirty="0"/>
              <a:t> group by </a:t>
            </a:r>
            <a:r>
              <a:rPr lang="en-US" dirty="0" err="1"/>
              <a:t>Deptno</a:t>
            </a:r>
            <a:endParaRPr lang="en-IN" dirty="0"/>
          </a:p>
          <a:p>
            <a:r>
              <a:rPr lang="en-US" dirty="0"/>
              <a:t>In the above query group by will divide the table in to groups based on </a:t>
            </a:r>
            <a:r>
              <a:rPr lang="en-US" dirty="0" err="1"/>
              <a:t>deptno</a:t>
            </a:r>
            <a:r>
              <a:rPr lang="en-US" dirty="0"/>
              <a:t> and then calculates sum(</a:t>
            </a:r>
            <a:r>
              <a:rPr lang="en-US" dirty="0" err="1"/>
              <a:t>sal</a:t>
            </a:r>
            <a:r>
              <a:rPr lang="en-US" dirty="0"/>
              <a:t>) for each group separately, which will give the sum of salaries of employees department wise.</a:t>
            </a:r>
            <a:endParaRPr lang="en-IN" dirty="0"/>
          </a:p>
          <a:p>
            <a:r>
              <a:rPr lang="en-US" dirty="0"/>
              <a:t>	</a:t>
            </a:r>
            <a:r>
              <a:rPr lang="en-US" b="1" dirty="0"/>
              <a:t>ii. Calculate sum of salaries of employees job wise</a:t>
            </a:r>
            <a:endParaRPr lang="en-IN" dirty="0"/>
          </a:p>
          <a:p>
            <a:r>
              <a:rPr lang="en-US" b="1" dirty="0"/>
              <a:t>		</a:t>
            </a:r>
            <a:r>
              <a:rPr lang="en-US" dirty="0"/>
              <a:t>Select </a:t>
            </a:r>
            <a:r>
              <a:rPr lang="en-US" dirty="0" err="1"/>
              <a:t>Job,Sum</a:t>
            </a:r>
            <a:r>
              <a:rPr lang="en-US" dirty="0"/>
              <a:t>(</a:t>
            </a:r>
            <a:r>
              <a:rPr lang="en-US" dirty="0" err="1"/>
              <a:t>sal</a:t>
            </a:r>
            <a:r>
              <a:rPr lang="en-US" dirty="0"/>
              <a:t>) from </a:t>
            </a:r>
            <a:r>
              <a:rPr lang="en-US" dirty="0" err="1"/>
              <a:t>emp</a:t>
            </a:r>
            <a:r>
              <a:rPr lang="en-US" dirty="0"/>
              <a:t> group by job</a:t>
            </a:r>
            <a:endParaRPr lang="en-IN" dirty="0"/>
          </a:p>
          <a:p>
            <a:pPr marL="0" indent="0">
              <a:buNone/>
            </a:pPr>
            <a:r>
              <a:rPr lang="en-US" b="1" dirty="0"/>
              <a:t>Rule : A rule to be followed when working with group by is the columns that are selected in the select list except aggregate functions must be in group by.</a:t>
            </a:r>
            <a:endParaRPr lang="en-IN" dirty="0"/>
          </a:p>
          <a:p>
            <a:endParaRPr lang="en-IN" dirty="0"/>
          </a:p>
        </p:txBody>
      </p:sp>
    </p:spTree>
    <p:extLst>
      <p:ext uri="{BB962C8B-B14F-4D97-AF65-F5344CB8AC3E}">
        <p14:creationId xmlns:p14="http://schemas.microsoft.com/office/powerpoint/2010/main" val="12712854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A782E-926F-4B59-9F65-9A88F1301AA7}"/>
              </a:ext>
            </a:extLst>
          </p:cNvPr>
          <p:cNvSpPr>
            <a:spLocks noGrp="1"/>
          </p:cNvSpPr>
          <p:nvPr>
            <p:ph type="title"/>
          </p:nvPr>
        </p:nvSpPr>
        <p:spPr>
          <a:xfrm>
            <a:off x="838200" y="365126"/>
            <a:ext cx="10515600" cy="775518"/>
          </a:xfrm>
        </p:spPr>
        <p:txBody>
          <a:bodyPr/>
          <a:lstStyle/>
          <a:p>
            <a:r>
              <a:rPr lang="en-US" b="1" u="words" dirty="0"/>
              <a:t>Having</a:t>
            </a:r>
            <a:r>
              <a:rPr lang="en-US" b="1" dirty="0"/>
              <a:t> :</a:t>
            </a:r>
            <a:endParaRPr lang="en-IN" dirty="0"/>
          </a:p>
        </p:txBody>
      </p:sp>
      <p:sp>
        <p:nvSpPr>
          <p:cNvPr id="3" name="Content Placeholder 2">
            <a:extLst>
              <a:ext uri="{FF2B5EF4-FFF2-40B4-BE49-F238E27FC236}">
                <a16:creationId xmlns:a16="http://schemas.microsoft.com/office/drawing/2014/main" id="{6725276D-5816-4460-81E1-F36B9AF05D40}"/>
              </a:ext>
            </a:extLst>
          </p:cNvPr>
          <p:cNvSpPr>
            <a:spLocks noGrp="1"/>
          </p:cNvSpPr>
          <p:nvPr>
            <p:ph idx="1"/>
          </p:nvPr>
        </p:nvSpPr>
        <p:spPr>
          <a:xfrm>
            <a:off x="838200" y="1291472"/>
            <a:ext cx="10515600" cy="4885491"/>
          </a:xfrm>
        </p:spPr>
        <p:txBody>
          <a:bodyPr>
            <a:normAutofit lnSpcReduction="10000"/>
          </a:bodyPr>
          <a:lstStyle/>
          <a:p>
            <a:r>
              <a:rPr lang="en-US" dirty="0"/>
              <a:t>Having is used to check for a condition that contains an aggregate function instead of where clause. Because where clause can check a condition without any aggregate function but not a condition with aggregate function. For example if you want to find the departments with three or more employees then the query will be as follows.</a:t>
            </a:r>
            <a:endParaRPr lang="en-IN" dirty="0"/>
          </a:p>
          <a:p>
            <a:r>
              <a:rPr lang="en-US" b="1" dirty="0"/>
              <a:t>Select </a:t>
            </a:r>
            <a:r>
              <a:rPr lang="en-US" b="1" dirty="0" err="1"/>
              <a:t>Deptno,Count</a:t>
            </a:r>
            <a:r>
              <a:rPr lang="en-US" b="1" dirty="0"/>
              <a:t>(*) From </a:t>
            </a:r>
            <a:r>
              <a:rPr lang="en-US" b="1" dirty="0" err="1"/>
              <a:t>Emp</a:t>
            </a:r>
            <a:r>
              <a:rPr lang="en-US" b="1" dirty="0"/>
              <a:t> group by </a:t>
            </a:r>
            <a:r>
              <a:rPr lang="en-US" b="1" dirty="0" err="1"/>
              <a:t>Deptno</a:t>
            </a:r>
            <a:r>
              <a:rPr lang="en-US" b="1" dirty="0"/>
              <a:t> having Count(*)&gt;=3</a:t>
            </a:r>
            <a:endParaRPr lang="en-IN" dirty="0"/>
          </a:p>
          <a:p>
            <a:r>
              <a:rPr lang="en-US" dirty="0"/>
              <a:t>In the above query condition is </a:t>
            </a:r>
            <a:r>
              <a:rPr lang="en-US" b="1" dirty="0"/>
              <a:t>Count(*)&gt;=3. </a:t>
            </a:r>
            <a:r>
              <a:rPr lang="en-US" dirty="0"/>
              <a:t>This contains an aggregate function. Hence we must use having instead of where clause.</a:t>
            </a:r>
            <a:endParaRPr lang="en-IN" dirty="0"/>
          </a:p>
          <a:p>
            <a:r>
              <a:rPr lang="en-US" b="1" dirty="0"/>
              <a:t>Rule : A Rule to follow when using having clause is a corresponding group by is must for a having clause.</a:t>
            </a:r>
            <a:endParaRPr lang="en-IN" dirty="0"/>
          </a:p>
          <a:p>
            <a:endParaRPr lang="en-IN" dirty="0"/>
          </a:p>
        </p:txBody>
      </p:sp>
    </p:spTree>
    <p:extLst>
      <p:ext uri="{BB962C8B-B14F-4D97-AF65-F5344CB8AC3E}">
        <p14:creationId xmlns:p14="http://schemas.microsoft.com/office/powerpoint/2010/main" val="29569811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2A605-95A0-410C-8212-D4734124B6CD}"/>
              </a:ext>
            </a:extLst>
          </p:cNvPr>
          <p:cNvSpPr>
            <a:spLocks noGrp="1"/>
          </p:cNvSpPr>
          <p:nvPr>
            <p:ph type="title"/>
          </p:nvPr>
        </p:nvSpPr>
        <p:spPr>
          <a:xfrm>
            <a:off x="838200" y="365126"/>
            <a:ext cx="10515600" cy="794372"/>
          </a:xfrm>
        </p:spPr>
        <p:txBody>
          <a:bodyPr/>
          <a:lstStyle/>
          <a:p>
            <a:r>
              <a:rPr lang="en-US" b="1" u="words" dirty="0"/>
              <a:t>Super Aggregates</a:t>
            </a:r>
            <a:r>
              <a:rPr lang="en-US" b="1" dirty="0"/>
              <a:t> :</a:t>
            </a:r>
            <a:endParaRPr lang="en-IN" dirty="0"/>
          </a:p>
        </p:txBody>
      </p:sp>
      <p:sp>
        <p:nvSpPr>
          <p:cNvPr id="3" name="Content Placeholder 2">
            <a:extLst>
              <a:ext uri="{FF2B5EF4-FFF2-40B4-BE49-F238E27FC236}">
                <a16:creationId xmlns:a16="http://schemas.microsoft.com/office/drawing/2014/main" id="{7C007356-CDF8-4C7F-969A-FFC20801262C}"/>
              </a:ext>
            </a:extLst>
          </p:cNvPr>
          <p:cNvSpPr>
            <a:spLocks noGrp="1"/>
          </p:cNvSpPr>
          <p:nvPr>
            <p:ph idx="1"/>
          </p:nvPr>
        </p:nvSpPr>
        <p:spPr>
          <a:xfrm>
            <a:off x="838200" y="1366887"/>
            <a:ext cx="10515600" cy="4810076"/>
          </a:xfrm>
        </p:spPr>
        <p:txBody>
          <a:bodyPr>
            <a:normAutofit fontScale="92500" lnSpcReduction="10000"/>
          </a:bodyPr>
          <a:lstStyle/>
          <a:p>
            <a:r>
              <a:rPr lang="en-US" dirty="0"/>
              <a:t>SQL Server provides Two super aggregates </a:t>
            </a:r>
            <a:r>
              <a:rPr lang="en-US" b="1" dirty="0"/>
              <a:t>Cube</a:t>
            </a:r>
            <a:r>
              <a:rPr lang="en-US" dirty="0"/>
              <a:t> and </a:t>
            </a:r>
            <a:r>
              <a:rPr lang="en-US" b="1" dirty="0"/>
              <a:t>Rollup.</a:t>
            </a:r>
            <a:endParaRPr lang="en-IN" dirty="0"/>
          </a:p>
          <a:p>
            <a:r>
              <a:rPr lang="en-US" b="1" u="words" dirty="0"/>
              <a:t>Roll Up</a:t>
            </a:r>
            <a:r>
              <a:rPr lang="en-US" b="1" dirty="0"/>
              <a:t> : </a:t>
            </a:r>
            <a:r>
              <a:rPr lang="en-US" dirty="0"/>
              <a:t>Roll up is used to calculate sub totals at the end of each group based on values of first column in group by when you group the data on more than one column.</a:t>
            </a:r>
            <a:endParaRPr lang="en-IN" dirty="0"/>
          </a:p>
          <a:p>
            <a:r>
              <a:rPr lang="en-US" b="1" u="sng" dirty="0"/>
              <a:t>Cube</a:t>
            </a:r>
            <a:r>
              <a:rPr lang="en-US" b="1" dirty="0"/>
              <a:t> : </a:t>
            </a:r>
            <a:r>
              <a:rPr lang="en-US" dirty="0"/>
              <a:t>Cube is used to calculate sub totals at the end of each group based on values of second column in group by along with the result of rollup when data is grouped on more than one column in group by.</a:t>
            </a:r>
            <a:endParaRPr lang="en-IN" dirty="0"/>
          </a:p>
          <a:p>
            <a:r>
              <a:rPr lang="en-US" dirty="0"/>
              <a:t>	Roll up and Cube can be used only with group by. For example if you want to calculate sub totals at the end of each department when grouping data on both </a:t>
            </a:r>
            <a:r>
              <a:rPr lang="en-US" dirty="0" err="1"/>
              <a:t>Deptno</a:t>
            </a:r>
            <a:r>
              <a:rPr lang="en-US" dirty="0"/>
              <a:t> and Job, then the following query is used.</a:t>
            </a:r>
            <a:endParaRPr lang="en-IN" dirty="0"/>
          </a:p>
          <a:p>
            <a:r>
              <a:rPr lang="en-US" b="1" dirty="0"/>
              <a:t>Select </a:t>
            </a:r>
            <a:r>
              <a:rPr lang="en-US" b="1" dirty="0" err="1"/>
              <a:t>Deptno</a:t>
            </a:r>
            <a:r>
              <a:rPr lang="en-US" b="1" dirty="0"/>
              <a:t>, Job, Sum(Sal) from </a:t>
            </a:r>
            <a:r>
              <a:rPr lang="en-US" b="1" dirty="0" err="1"/>
              <a:t>emp</a:t>
            </a:r>
            <a:r>
              <a:rPr lang="en-US" b="1" dirty="0"/>
              <a:t> group by </a:t>
            </a:r>
            <a:r>
              <a:rPr lang="en-US" b="1" dirty="0" err="1"/>
              <a:t>Deptno,Job</a:t>
            </a:r>
            <a:r>
              <a:rPr lang="en-US" b="1" dirty="0"/>
              <a:t> with roll up / with cube</a:t>
            </a:r>
            <a:endParaRPr lang="en-IN" dirty="0"/>
          </a:p>
          <a:p>
            <a:endParaRPr lang="en-IN" dirty="0"/>
          </a:p>
        </p:txBody>
      </p:sp>
    </p:spTree>
    <p:extLst>
      <p:ext uri="{BB962C8B-B14F-4D97-AF65-F5344CB8AC3E}">
        <p14:creationId xmlns:p14="http://schemas.microsoft.com/office/powerpoint/2010/main" val="19505558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D692D-FF43-4DCA-BEDA-041D9DC68AD1}"/>
              </a:ext>
            </a:extLst>
          </p:cNvPr>
          <p:cNvSpPr>
            <a:spLocks noGrp="1"/>
          </p:cNvSpPr>
          <p:nvPr>
            <p:ph type="title"/>
          </p:nvPr>
        </p:nvSpPr>
        <p:spPr>
          <a:xfrm>
            <a:off x="838200" y="365125"/>
            <a:ext cx="10515600" cy="832079"/>
          </a:xfrm>
        </p:spPr>
        <p:txBody>
          <a:bodyPr/>
          <a:lstStyle/>
          <a:p>
            <a:r>
              <a:rPr lang="en-US" b="1" u="words" dirty="0"/>
              <a:t>COMPUTE Clause</a:t>
            </a:r>
            <a:r>
              <a:rPr lang="en-US" b="1" dirty="0"/>
              <a:t> :</a:t>
            </a:r>
            <a:endParaRPr lang="en-IN" dirty="0"/>
          </a:p>
        </p:txBody>
      </p:sp>
      <p:sp>
        <p:nvSpPr>
          <p:cNvPr id="3" name="Content Placeholder 2">
            <a:extLst>
              <a:ext uri="{FF2B5EF4-FFF2-40B4-BE49-F238E27FC236}">
                <a16:creationId xmlns:a16="http://schemas.microsoft.com/office/drawing/2014/main" id="{8C58FB0D-FC59-402C-BA9B-D3F679E7E485}"/>
              </a:ext>
            </a:extLst>
          </p:cNvPr>
          <p:cNvSpPr>
            <a:spLocks noGrp="1"/>
          </p:cNvSpPr>
          <p:nvPr>
            <p:ph idx="1"/>
          </p:nvPr>
        </p:nvSpPr>
        <p:spPr>
          <a:xfrm>
            <a:off x="838200" y="1300899"/>
            <a:ext cx="10515600" cy="4876064"/>
          </a:xfrm>
        </p:spPr>
        <p:txBody>
          <a:bodyPr>
            <a:normAutofit lnSpcReduction="10000"/>
          </a:bodyPr>
          <a:lstStyle/>
          <a:p>
            <a:r>
              <a:rPr lang="en-US" dirty="0"/>
              <a:t>The compute clause uses aggregate functions to calculate summary values that appear as additional rows in the result of a query. The aggregate functions used with the compute clause are referred to as row aggregate functions.</a:t>
            </a:r>
            <a:endParaRPr lang="en-IN" dirty="0"/>
          </a:p>
          <a:p>
            <a:r>
              <a:rPr lang="en-US" dirty="0"/>
              <a:t>The compute clause has an optional BY portion. BY defines the grouping form of the result. If BY is omitted, the row aggregate function is applied to all rows of a result query. The ORDER BY clause is required if the COMPUTE clause with BY is used.</a:t>
            </a:r>
          </a:p>
          <a:p>
            <a:r>
              <a:rPr lang="en-US" b="1" dirty="0"/>
              <a:t>Example : </a:t>
            </a:r>
            <a:endParaRPr lang="en-IN" dirty="0"/>
          </a:p>
          <a:p>
            <a:r>
              <a:rPr lang="en-US" b="1" dirty="0"/>
              <a:t>	Display Employee Details Along with Total salary department wise</a:t>
            </a:r>
            <a:endParaRPr lang="en-IN" dirty="0"/>
          </a:p>
          <a:p>
            <a:pPr marL="0" indent="0">
              <a:buNone/>
            </a:pPr>
            <a:r>
              <a:rPr lang="en-US" dirty="0"/>
              <a:t>Select * from </a:t>
            </a:r>
            <a:r>
              <a:rPr lang="en-US" dirty="0" err="1"/>
              <a:t>Emp</a:t>
            </a:r>
            <a:r>
              <a:rPr lang="en-US" dirty="0"/>
              <a:t> order by </a:t>
            </a:r>
            <a:r>
              <a:rPr lang="en-US" dirty="0" err="1"/>
              <a:t>Deptno</a:t>
            </a:r>
            <a:r>
              <a:rPr lang="en-US" dirty="0"/>
              <a:t> Compute Sum(</a:t>
            </a:r>
            <a:r>
              <a:rPr lang="en-US" dirty="0" err="1"/>
              <a:t>sal</a:t>
            </a:r>
            <a:r>
              <a:rPr lang="en-US" dirty="0"/>
              <a:t>) by </a:t>
            </a:r>
            <a:r>
              <a:rPr lang="en-US" dirty="0" err="1"/>
              <a:t>Deptno</a:t>
            </a:r>
            <a:endParaRPr lang="en-IN" dirty="0"/>
          </a:p>
          <a:p>
            <a:endParaRPr lang="en-IN" dirty="0"/>
          </a:p>
          <a:p>
            <a:endParaRPr lang="en-IN" dirty="0"/>
          </a:p>
        </p:txBody>
      </p:sp>
    </p:spTree>
    <p:extLst>
      <p:ext uri="{BB962C8B-B14F-4D97-AF65-F5344CB8AC3E}">
        <p14:creationId xmlns:p14="http://schemas.microsoft.com/office/powerpoint/2010/main" val="16034396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7CBE7-6387-473B-91A3-A421A622B89C}"/>
              </a:ext>
            </a:extLst>
          </p:cNvPr>
          <p:cNvSpPr>
            <a:spLocks noGrp="1"/>
          </p:cNvSpPr>
          <p:nvPr>
            <p:ph type="title"/>
          </p:nvPr>
        </p:nvSpPr>
        <p:spPr>
          <a:xfrm>
            <a:off x="838200" y="365125"/>
            <a:ext cx="10515600" cy="926347"/>
          </a:xfrm>
        </p:spPr>
        <p:txBody>
          <a:bodyPr/>
          <a:lstStyle/>
          <a:p>
            <a:r>
              <a:rPr lang="en-US" b="1" u="words" dirty="0"/>
              <a:t>OVER Clause</a:t>
            </a:r>
            <a:r>
              <a:rPr lang="en-US" b="1" dirty="0"/>
              <a:t> :</a:t>
            </a:r>
            <a:endParaRPr lang="en-IN" dirty="0"/>
          </a:p>
        </p:txBody>
      </p:sp>
      <p:sp>
        <p:nvSpPr>
          <p:cNvPr id="3" name="Content Placeholder 2">
            <a:extLst>
              <a:ext uri="{FF2B5EF4-FFF2-40B4-BE49-F238E27FC236}">
                <a16:creationId xmlns:a16="http://schemas.microsoft.com/office/drawing/2014/main" id="{692F068A-5892-4FB3-888F-0AEBD7BD4726}"/>
              </a:ext>
            </a:extLst>
          </p:cNvPr>
          <p:cNvSpPr>
            <a:spLocks noGrp="1"/>
          </p:cNvSpPr>
          <p:nvPr>
            <p:ph idx="1"/>
          </p:nvPr>
        </p:nvSpPr>
        <p:spPr/>
        <p:txBody>
          <a:bodyPr/>
          <a:lstStyle/>
          <a:p>
            <a:r>
              <a:rPr lang="en-US" dirty="0"/>
              <a:t>OVER Clause can be used to group the data like GROUP BY. The main difference between the use of the GROUP BY clause and grouping using the OVER clause is that the OVER clause displays each of the rows from a group separately, while the GROUP BY clause displays only one row for each group.</a:t>
            </a:r>
            <a:endParaRPr lang="en-IN" dirty="0"/>
          </a:p>
          <a:p>
            <a:r>
              <a:rPr lang="en-US" b="1" dirty="0"/>
              <a:t>Example : </a:t>
            </a:r>
            <a:endParaRPr lang="en-IN" dirty="0"/>
          </a:p>
          <a:p>
            <a:r>
              <a:rPr lang="en-US" b="1" dirty="0"/>
              <a:t>	Display Employee Details Along with Total salary department wise</a:t>
            </a:r>
            <a:endParaRPr lang="en-IN" dirty="0"/>
          </a:p>
          <a:p>
            <a:pPr marL="0" indent="0">
              <a:buNone/>
            </a:pPr>
            <a:r>
              <a:rPr lang="en-US" dirty="0"/>
              <a:t>Select *,Sum(Sal) over(order by </a:t>
            </a:r>
            <a:r>
              <a:rPr lang="en-US" dirty="0" err="1"/>
              <a:t>deptno</a:t>
            </a:r>
            <a:r>
              <a:rPr lang="en-US" dirty="0"/>
              <a:t>) from </a:t>
            </a:r>
            <a:r>
              <a:rPr lang="en-US" dirty="0" err="1"/>
              <a:t>emp</a:t>
            </a:r>
            <a:endParaRPr lang="en-IN" dirty="0"/>
          </a:p>
          <a:p>
            <a:endParaRPr lang="en-IN" dirty="0"/>
          </a:p>
        </p:txBody>
      </p:sp>
    </p:spTree>
    <p:extLst>
      <p:ext uri="{BB962C8B-B14F-4D97-AF65-F5344CB8AC3E}">
        <p14:creationId xmlns:p14="http://schemas.microsoft.com/office/powerpoint/2010/main" val="9464387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47300-1EF0-43E7-A18C-1217228CD240}"/>
              </a:ext>
            </a:extLst>
          </p:cNvPr>
          <p:cNvSpPr>
            <a:spLocks noGrp="1"/>
          </p:cNvSpPr>
          <p:nvPr>
            <p:ph type="title"/>
          </p:nvPr>
        </p:nvSpPr>
        <p:spPr/>
        <p:txBody>
          <a:bodyPr/>
          <a:lstStyle/>
          <a:p>
            <a:r>
              <a:rPr lang="en-US" b="1" u="words" dirty="0"/>
              <a:t>RANKING FUNCTIONS</a:t>
            </a:r>
            <a:br>
              <a:rPr lang="en-IN" dirty="0"/>
            </a:br>
            <a:endParaRPr lang="en-IN" dirty="0"/>
          </a:p>
        </p:txBody>
      </p:sp>
      <p:sp>
        <p:nvSpPr>
          <p:cNvPr id="3" name="Content Placeholder 2">
            <a:extLst>
              <a:ext uri="{FF2B5EF4-FFF2-40B4-BE49-F238E27FC236}">
                <a16:creationId xmlns:a16="http://schemas.microsoft.com/office/drawing/2014/main" id="{13A4695B-E2D7-49E1-AAF9-2DCE9656EFE7}"/>
              </a:ext>
            </a:extLst>
          </p:cNvPr>
          <p:cNvSpPr>
            <a:spLocks noGrp="1"/>
          </p:cNvSpPr>
          <p:nvPr>
            <p:ph idx="1"/>
          </p:nvPr>
        </p:nvSpPr>
        <p:spPr/>
        <p:txBody>
          <a:bodyPr/>
          <a:lstStyle/>
          <a:p>
            <a:r>
              <a:rPr lang="en-US" b="1" dirty="0"/>
              <a:t>	</a:t>
            </a:r>
            <a:r>
              <a:rPr lang="en-US" dirty="0"/>
              <a:t>SQL Server defines several functions that are categorized as ranking functions, i.e., functions that return a ranking value for each row in a partition group. The system supports following ranking functions.</a:t>
            </a:r>
            <a:endParaRPr lang="en-IN" dirty="0"/>
          </a:p>
          <a:p>
            <a:endParaRPr lang="en-IN" dirty="0"/>
          </a:p>
        </p:txBody>
      </p:sp>
    </p:spTree>
    <p:extLst>
      <p:ext uri="{BB962C8B-B14F-4D97-AF65-F5344CB8AC3E}">
        <p14:creationId xmlns:p14="http://schemas.microsoft.com/office/powerpoint/2010/main" val="1056592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9B31F-6F4D-4081-B809-DF754AD5B078}"/>
              </a:ext>
            </a:extLst>
          </p:cNvPr>
          <p:cNvSpPr>
            <a:spLocks noGrp="1"/>
          </p:cNvSpPr>
          <p:nvPr>
            <p:ph type="title"/>
          </p:nvPr>
        </p:nvSpPr>
        <p:spPr>
          <a:xfrm>
            <a:off x="838200" y="365126"/>
            <a:ext cx="10515600" cy="822652"/>
          </a:xfrm>
        </p:spPr>
        <p:txBody>
          <a:bodyPr/>
          <a:lstStyle/>
          <a:p>
            <a:r>
              <a:rPr lang="en-US" b="1" dirty="0"/>
              <a:t>RANK() :</a:t>
            </a:r>
            <a:endParaRPr lang="en-IN" dirty="0"/>
          </a:p>
        </p:txBody>
      </p:sp>
      <p:sp>
        <p:nvSpPr>
          <p:cNvPr id="3" name="Content Placeholder 2">
            <a:extLst>
              <a:ext uri="{FF2B5EF4-FFF2-40B4-BE49-F238E27FC236}">
                <a16:creationId xmlns:a16="http://schemas.microsoft.com/office/drawing/2014/main" id="{51BC778D-51BB-4B59-9F6B-C3CD2A6D49A0}"/>
              </a:ext>
            </a:extLst>
          </p:cNvPr>
          <p:cNvSpPr>
            <a:spLocks noGrp="1"/>
          </p:cNvSpPr>
          <p:nvPr>
            <p:ph idx="1"/>
          </p:nvPr>
        </p:nvSpPr>
        <p:spPr>
          <a:xfrm>
            <a:off x="838200" y="1121790"/>
            <a:ext cx="10515600" cy="5055173"/>
          </a:xfrm>
        </p:spPr>
        <p:txBody>
          <a:bodyPr/>
          <a:lstStyle/>
          <a:p>
            <a:r>
              <a:rPr lang="en-US" dirty="0"/>
              <a:t>This function is used to return a number that specifies the rank of the row among all rows. The RANK function uses logical aggregation. In other words, if two or more rows in a result set have same value in the ordering column, they will have the same rank.</a:t>
            </a:r>
            <a:endParaRPr lang="en-IN" dirty="0"/>
          </a:p>
          <a:p>
            <a:r>
              <a:rPr lang="en-US" b="1" dirty="0"/>
              <a:t>Example :</a:t>
            </a:r>
            <a:endParaRPr lang="en-IN" dirty="0"/>
          </a:p>
          <a:p>
            <a:r>
              <a:rPr lang="en-US" b="1" dirty="0"/>
              <a:t>	Display employee details along with a rank based on salary</a:t>
            </a:r>
            <a:endParaRPr lang="en-IN" dirty="0"/>
          </a:p>
          <a:p>
            <a:pPr marL="0" indent="0">
              <a:buNone/>
            </a:pPr>
            <a:r>
              <a:rPr lang="en-US" dirty="0"/>
              <a:t>Select </a:t>
            </a:r>
            <a:r>
              <a:rPr lang="en-US" dirty="0" err="1"/>
              <a:t>empno,ename,job,sal,rank</a:t>
            </a:r>
            <a:r>
              <a:rPr lang="en-US" dirty="0"/>
              <a:t>() over(order by </a:t>
            </a:r>
            <a:r>
              <a:rPr lang="en-US" dirty="0" err="1"/>
              <a:t>sal</a:t>
            </a:r>
            <a:r>
              <a:rPr lang="en-US" dirty="0"/>
              <a:t> </a:t>
            </a:r>
            <a:r>
              <a:rPr lang="en-US" dirty="0" err="1"/>
              <a:t>desc</a:t>
            </a:r>
            <a:r>
              <a:rPr lang="en-US" dirty="0"/>
              <a:t>) as Rank from </a:t>
            </a:r>
            <a:r>
              <a:rPr lang="en-US" dirty="0" err="1"/>
              <a:t>emp</a:t>
            </a:r>
            <a:endParaRPr lang="en-IN" dirty="0"/>
          </a:p>
          <a:p>
            <a:endParaRPr lang="en-IN" dirty="0"/>
          </a:p>
        </p:txBody>
      </p:sp>
    </p:spTree>
    <p:extLst>
      <p:ext uri="{BB962C8B-B14F-4D97-AF65-F5344CB8AC3E}">
        <p14:creationId xmlns:p14="http://schemas.microsoft.com/office/powerpoint/2010/main" val="36481768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3E0DF-B306-4F9F-B5C0-C023692F74ED}"/>
              </a:ext>
            </a:extLst>
          </p:cNvPr>
          <p:cNvSpPr>
            <a:spLocks noGrp="1"/>
          </p:cNvSpPr>
          <p:nvPr>
            <p:ph type="title"/>
          </p:nvPr>
        </p:nvSpPr>
        <p:spPr/>
        <p:txBody>
          <a:bodyPr/>
          <a:lstStyle/>
          <a:p>
            <a:r>
              <a:rPr lang="en-US" b="1" dirty="0"/>
              <a:t>DENSE_RANK() :</a:t>
            </a:r>
            <a:endParaRPr lang="en-IN" dirty="0"/>
          </a:p>
        </p:txBody>
      </p:sp>
      <p:sp>
        <p:nvSpPr>
          <p:cNvPr id="3" name="Content Placeholder 2">
            <a:extLst>
              <a:ext uri="{FF2B5EF4-FFF2-40B4-BE49-F238E27FC236}">
                <a16:creationId xmlns:a16="http://schemas.microsoft.com/office/drawing/2014/main" id="{3E16F804-B5DE-474A-A26F-4C238DBDA2C5}"/>
              </a:ext>
            </a:extLst>
          </p:cNvPr>
          <p:cNvSpPr>
            <a:spLocks noGrp="1"/>
          </p:cNvSpPr>
          <p:nvPr>
            <p:ph idx="1"/>
          </p:nvPr>
        </p:nvSpPr>
        <p:spPr/>
        <p:txBody>
          <a:bodyPr/>
          <a:lstStyle/>
          <a:p>
            <a:r>
              <a:rPr lang="en-US" dirty="0"/>
              <a:t>This function works same as Rank(), except that it will not skip a rank when two or more rows got the same rank.</a:t>
            </a:r>
            <a:endParaRPr lang="en-IN" dirty="0"/>
          </a:p>
          <a:p>
            <a:r>
              <a:rPr lang="en-US" b="1" dirty="0"/>
              <a:t>Example :</a:t>
            </a:r>
            <a:endParaRPr lang="en-IN" dirty="0"/>
          </a:p>
          <a:p>
            <a:r>
              <a:rPr lang="en-US" b="1" dirty="0"/>
              <a:t>	Display employee details along with a rank based on salary</a:t>
            </a:r>
            <a:endParaRPr lang="en-IN" dirty="0"/>
          </a:p>
          <a:p>
            <a:r>
              <a:rPr lang="en-US" b="1" dirty="0"/>
              <a:t>	</a:t>
            </a:r>
            <a:r>
              <a:rPr lang="en-US" dirty="0"/>
              <a:t>Select </a:t>
            </a:r>
            <a:r>
              <a:rPr lang="en-US" dirty="0" err="1"/>
              <a:t>empno,ename,job,sal,Dense_rank</a:t>
            </a:r>
            <a:r>
              <a:rPr lang="en-US" dirty="0"/>
              <a:t>() over(order by </a:t>
            </a:r>
            <a:r>
              <a:rPr lang="en-US" dirty="0" err="1"/>
              <a:t>sal</a:t>
            </a:r>
            <a:r>
              <a:rPr lang="en-US" dirty="0"/>
              <a:t> </a:t>
            </a:r>
            <a:r>
              <a:rPr lang="en-US" dirty="0" err="1"/>
              <a:t>desc</a:t>
            </a:r>
            <a:r>
              <a:rPr lang="en-US" dirty="0"/>
              <a:t>) as Rank from </a:t>
            </a:r>
            <a:r>
              <a:rPr lang="en-US" dirty="0" err="1"/>
              <a:t>emp</a:t>
            </a:r>
            <a:endParaRPr lang="en-IN" dirty="0"/>
          </a:p>
        </p:txBody>
      </p:sp>
    </p:spTree>
    <p:extLst>
      <p:ext uri="{BB962C8B-B14F-4D97-AF65-F5344CB8AC3E}">
        <p14:creationId xmlns:p14="http://schemas.microsoft.com/office/powerpoint/2010/main" val="32920773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66836-152B-4394-AE7A-D0113CF36671}"/>
              </a:ext>
            </a:extLst>
          </p:cNvPr>
          <p:cNvSpPr>
            <a:spLocks noGrp="1"/>
          </p:cNvSpPr>
          <p:nvPr>
            <p:ph type="title"/>
          </p:nvPr>
        </p:nvSpPr>
        <p:spPr/>
        <p:txBody>
          <a:bodyPr/>
          <a:lstStyle/>
          <a:p>
            <a:r>
              <a:rPr lang="en-US" b="1" dirty="0"/>
              <a:t>ROW_NUMBER() :</a:t>
            </a:r>
            <a:endParaRPr lang="en-IN" dirty="0"/>
          </a:p>
        </p:txBody>
      </p:sp>
      <p:sp>
        <p:nvSpPr>
          <p:cNvPr id="3" name="Content Placeholder 2">
            <a:extLst>
              <a:ext uri="{FF2B5EF4-FFF2-40B4-BE49-F238E27FC236}">
                <a16:creationId xmlns:a16="http://schemas.microsoft.com/office/drawing/2014/main" id="{6684D1C0-A140-4B56-A3C8-5A8DC34CA694}"/>
              </a:ext>
            </a:extLst>
          </p:cNvPr>
          <p:cNvSpPr>
            <a:spLocks noGrp="1"/>
          </p:cNvSpPr>
          <p:nvPr>
            <p:ph idx="1"/>
          </p:nvPr>
        </p:nvSpPr>
        <p:spPr/>
        <p:txBody>
          <a:bodyPr/>
          <a:lstStyle/>
          <a:p>
            <a:r>
              <a:rPr lang="en-US" dirty="0"/>
              <a:t>It returns the sequential number of a row within a result set, starting at 1 for the first row.</a:t>
            </a:r>
            <a:endParaRPr lang="en-IN" dirty="0"/>
          </a:p>
          <a:p>
            <a:endParaRPr lang="en-IN" dirty="0"/>
          </a:p>
        </p:txBody>
      </p:sp>
    </p:spTree>
    <p:extLst>
      <p:ext uri="{BB962C8B-B14F-4D97-AF65-F5344CB8AC3E}">
        <p14:creationId xmlns:p14="http://schemas.microsoft.com/office/powerpoint/2010/main" val="31524997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2FD46-6DC6-4BD2-BC2B-61B3681D1AD7}"/>
              </a:ext>
            </a:extLst>
          </p:cNvPr>
          <p:cNvSpPr>
            <a:spLocks noGrp="1"/>
          </p:cNvSpPr>
          <p:nvPr>
            <p:ph type="title"/>
          </p:nvPr>
        </p:nvSpPr>
        <p:spPr>
          <a:xfrm>
            <a:off x="838200" y="365125"/>
            <a:ext cx="10515600" cy="615263"/>
          </a:xfrm>
        </p:spPr>
        <p:txBody>
          <a:bodyPr>
            <a:normAutofit fontScale="90000"/>
          </a:bodyPr>
          <a:lstStyle/>
          <a:p>
            <a:r>
              <a:rPr lang="en-US" b="1" u="words" dirty="0"/>
              <a:t>PARTITION BY</a:t>
            </a:r>
            <a:r>
              <a:rPr lang="en-US" b="1" dirty="0"/>
              <a:t> :</a:t>
            </a:r>
            <a:endParaRPr lang="en-IN" dirty="0"/>
          </a:p>
        </p:txBody>
      </p:sp>
      <p:sp>
        <p:nvSpPr>
          <p:cNvPr id="3" name="Content Placeholder 2">
            <a:extLst>
              <a:ext uri="{FF2B5EF4-FFF2-40B4-BE49-F238E27FC236}">
                <a16:creationId xmlns:a16="http://schemas.microsoft.com/office/drawing/2014/main" id="{9230DBC0-8E51-413B-B243-3AD5489DA65B}"/>
              </a:ext>
            </a:extLst>
          </p:cNvPr>
          <p:cNvSpPr>
            <a:spLocks noGrp="1"/>
          </p:cNvSpPr>
          <p:nvPr>
            <p:ph idx="1"/>
          </p:nvPr>
        </p:nvSpPr>
        <p:spPr>
          <a:xfrm>
            <a:off x="838200" y="1300899"/>
            <a:ext cx="10515600" cy="4876064"/>
          </a:xfrm>
        </p:spPr>
        <p:txBody>
          <a:bodyPr/>
          <a:lstStyle/>
          <a:p>
            <a:r>
              <a:rPr lang="en-US" dirty="0"/>
              <a:t>Ranking functions can be applied to partitions by using partition by clause within the OVER() clause along with ORDER BY.</a:t>
            </a:r>
            <a:endParaRPr lang="en-IN" dirty="0"/>
          </a:p>
          <a:p>
            <a:r>
              <a:rPr lang="en-US" b="1" dirty="0"/>
              <a:t>Example : </a:t>
            </a:r>
            <a:endParaRPr lang="en-IN" dirty="0"/>
          </a:p>
          <a:p>
            <a:r>
              <a:rPr lang="en-US" b="1" dirty="0"/>
              <a:t>	Display Employee details along with a rank department wise</a:t>
            </a:r>
            <a:endParaRPr lang="en-IN" dirty="0"/>
          </a:p>
          <a:p>
            <a:r>
              <a:rPr lang="en-US" b="1" dirty="0"/>
              <a:t>	</a:t>
            </a:r>
            <a:r>
              <a:rPr lang="en-US" dirty="0"/>
              <a:t>Select </a:t>
            </a:r>
            <a:r>
              <a:rPr lang="en-US" dirty="0" err="1"/>
              <a:t>empno,ename,job,sal,Dense_rank</a:t>
            </a:r>
            <a:r>
              <a:rPr lang="en-US" dirty="0"/>
              <a:t>() over(partition by </a:t>
            </a:r>
            <a:r>
              <a:rPr lang="en-US" dirty="0" err="1"/>
              <a:t>sal</a:t>
            </a:r>
            <a:r>
              <a:rPr lang="en-US" dirty="0"/>
              <a:t> ) as Rank from </a:t>
            </a:r>
            <a:r>
              <a:rPr lang="en-US" dirty="0" err="1"/>
              <a:t>emp</a:t>
            </a:r>
            <a:endParaRPr lang="en-IN" dirty="0"/>
          </a:p>
          <a:p>
            <a:endParaRPr lang="en-IN" dirty="0"/>
          </a:p>
        </p:txBody>
      </p:sp>
    </p:spTree>
    <p:extLst>
      <p:ext uri="{BB962C8B-B14F-4D97-AF65-F5344CB8AC3E}">
        <p14:creationId xmlns:p14="http://schemas.microsoft.com/office/powerpoint/2010/main" val="6727085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7D867-762C-4E03-A746-AEA137CE8E8A}"/>
              </a:ext>
            </a:extLst>
          </p:cNvPr>
          <p:cNvSpPr>
            <a:spLocks noGrp="1"/>
          </p:cNvSpPr>
          <p:nvPr>
            <p:ph type="title"/>
          </p:nvPr>
        </p:nvSpPr>
        <p:spPr>
          <a:xfrm>
            <a:off x="838200" y="365126"/>
            <a:ext cx="10515600" cy="860360"/>
          </a:xfrm>
        </p:spPr>
        <p:txBody>
          <a:bodyPr/>
          <a:lstStyle/>
          <a:p>
            <a:r>
              <a:rPr lang="en-US" b="1" u="words" dirty="0"/>
              <a:t>TOP n Clause</a:t>
            </a:r>
            <a:r>
              <a:rPr lang="en-US" b="1" dirty="0"/>
              <a:t> :</a:t>
            </a:r>
            <a:endParaRPr lang="en-IN" dirty="0"/>
          </a:p>
        </p:txBody>
      </p:sp>
      <p:sp>
        <p:nvSpPr>
          <p:cNvPr id="3" name="Content Placeholder 2">
            <a:extLst>
              <a:ext uri="{FF2B5EF4-FFF2-40B4-BE49-F238E27FC236}">
                <a16:creationId xmlns:a16="http://schemas.microsoft.com/office/drawing/2014/main" id="{3ED41BC2-24A9-41DF-ABDA-42536DE08A54}"/>
              </a:ext>
            </a:extLst>
          </p:cNvPr>
          <p:cNvSpPr>
            <a:spLocks noGrp="1"/>
          </p:cNvSpPr>
          <p:nvPr>
            <p:ph idx="1"/>
          </p:nvPr>
        </p:nvSpPr>
        <p:spPr>
          <a:xfrm>
            <a:off x="838200" y="1423447"/>
            <a:ext cx="10515600" cy="4753516"/>
          </a:xfrm>
        </p:spPr>
        <p:txBody>
          <a:bodyPr>
            <a:normAutofit fontScale="92500" lnSpcReduction="10000"/>
          </a:bodyPr>
          <a:lstStyle/>
          <a:p>
            <a:r>
              <a:rPr lang="en-US" dirty="0"/>
              <a:t>This clause specifies the first n rows of the query result that are to be retrieved. The TOP n clause can also be used with the additional </a:t>
            </a:r>
            <a:r>
              <a:rPr lang="en-US" b="1" dirty="0"/>
              <a:t>PERCENT</a:t>
            </a:r>
            <a:r>
              <a:rPr lang="en-US" dirty="0"/>
              <a:t> option. In that case, the first n percent of the rows are retrieved from the result set. The additional option </a:t>
            </a:r>
            <a:r>
              <a:rPr lang="en-US" b="1" dirty="0"/>
              <a:t>WITH TIES</a:t>
            </a:r>
            <a:r>
              <a:rPr lang="en-US" dirty="0"/>
              <a:t> specifies that additional rows will be retrieved from the query result if they have the same value in the ORDER BY column as the last row that belongs to the displayed set.</a:t>
            </a:r>
          </a:p>
          <a:p>
            <a:r>
              <a:rPr lang="en-US" b="1" dirty="0"/>
              <a:t>Example :</a:t>
            </a:r>
            <a:endParaRPr lang="en-IN" dirty="0"/>
          </a:p>
          <a:p>
            <a:r>
              <a:rPr lang="en-US" b="1" dirty="0"/>
              <a:t>	</a:t>
            </a:r>
            <a:r>
              <a:rPr lang="en-US" b="1" dirty="0" err="1"/>
              <a:t>i</a:t>
            </a:r>
            <a:r>
              <a:rPr lang="en-US" b="1" dirty="0"/>
              <a:t>. Find Top3 salaried employees </a:t>
            </a:r>
            <a:endParaRPr lang="en-IN" dirty="0"/>
          </a:p>
          <a:p>
            <a:r>
              <a:rPr lang="en-US" dirty="0"/>
              <a:t>	Select Top 3 </a:t>
            </a:r>
            <a:r>
              <a:rPr lang="en-US" dirty="0" err="1"/>
              <a:t>empno,ename,job,sal</a:t>
            </a:r>
            <a:r>
              <a:rPr lang="en-US" dirty="0"/>
              <a:t> from </a:t>
            </a:r>
            <a:r>
              <a:rPr lang="en-US" dirty="0" err="1"/>
              <a:t>emp</a:t>
            </a:r>
            <a:r>
              <a:rPr lang="en-US" dirty="0"/>
              <a:t> order by </a:t>
            </a:r>
            <a:r>
              <a:rPr lang="en-US" dirty="0" err="1"/>
              <a:t>sal</a:t>
            </a:r>
            <a:r>
              <a:rPr lang="en-US" dirty="0"/>
              <a:t> </a:t>
            </a:r>
            <a:r>
              <a:rPr lang="en-US" dirty="0" err="1"/>
              <a:t>desc</a:t>
            </a:r>
            <a:endParaRPr lang="en-IN" dirty="0"/>
          </a:p>
          <a:p>
            <a:r>
              <a:rPr lang="en-US" b="1" dirty="0"/>
              <a:t>	ii. find Top 10% salaried employees</a:t>
            </a:r>
            <a:endParaRPr lang="en-IN" dirty="0"/>
          </a:p>
          <a:p>
            <a:r>
              <a:rPr lang="en-US" dirty="0"/>
              <a:t>	Select Top 10 Percent </a:t>
            </a:r>
            <a:r>
              <a:rPr lang="en-US" dirty="0" err="1"/>
              <a:t>Empno,ename,job,Sal</a:t>
            </a:r>
            <a:r>
              <a:rPr lang="en-US" dirty="0"/>
              <a:t> from </a:t>
            </a:r>
            <a:r>
              <a:rPr lang="en-US" dirty="0" err="1"/>
              <a:t>emp</a:t>
            </a:r>
            <a:r>
              <a:rPr lang="en-US" dirty="0"/>
              <a:t> order by </a:t>
            </a:r>
            <a:r>
              <a:rPr lang="en-US" dirty="0" err="1"/>
              <a:t>sal</a:t>
            </a:r>
            <a:r>
              <a:rPr lang="en-US" dirty="0"/>
              <a:t> </a:t>
            </a:r>
            <a:r>
              <a:rPr lang="en-US" dirty="0" err="1"/>
              <a:t>desc</a:t>
            </a:r>
            <a:endParaRPr lang="en-IN" dirty="0"/>
          </a:p>
          <a:p>
            <a:endParaRPr lang="en-IN" dirty="0"/>
          </a:p>
          <a:p>
            <a:endParaRPr lang="en-IN" dirty="0"/>
          </a:p>
        </p:txBody>
      </p:sp>
    </p:spTree>
    <p:extLst>
      <p:ext uri="{BB962C8B-B14F-4D97-AF65-F5344CB8AC3E}">
        <p14:creationId xmlns:p14="http://schemas.microsoft.com/office/powerpoint/2010/main" val="39816046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225B8-5DC5-469F-987E-87AC1BF34B44}"/>
              </a:ext>
            </a:extLst>
          </p:cNvPr>
          <p:cNvSpPr>
            <a:spLocks noGrp="1"/>
          </p:cNvSpPr>
          <p:nvPr>
            <p:ph type="title"/>
          </p:nvPr>
        </p:nvSpPr>
        <p:spPr/>
        <p:txBody>
          <a:bodyPr/>
          <a:lstStyle/>
          <a:p>
            <a:r>
              <a:rPr lang="en-US" b="1" u="words" dirty="0"/>
              <a:t>SET OPERATORS</a:t>
            </a:r>
            <a:r>
              <a:rPr lang="en-US" sz="4000" dirty="0"/>
              <a:t> </a:t>
            </a:r>
            <a:endParaRPr lang="en-IN" dirty="0"/>
          </a:p>
        </p:txBody>
      </p:sp>
      <p:sp>
        <p:nvSpPr>
          <p:cNvPr id="3" name="Content Placeholder 2">
            <a:extLst>
              <a:ext uri="{FF2B5EF4-FFF2-40B4-BE49-F238E27FC236}">
                <a16:creationId xmlns:a16="http://schemas.microsoft.com/office/drawing/2014/main" id="{3CBB2F55-0FD5-48B5-B531-4BDA11BFF129}"/>
              </a:ext>
            </a:extLst>
          </p:cNvPr>
          <p:cNvSpPr>
            <a:spLocks noGrp="1"/>
          </p:cNvSpPr>
          <p:nvPr>
            <p:ph idx="1"/>
          </p:nvPr>
        </p:nvSpPr>
        <p:spPr/>
        <p:txBody>
          <a:bodyPr/>
          <a:lstStyle/>
          <a:p>
            <a:r>
              <a:rPr lang="en-US" dirty="0"/>
              <a:t>SQL Server supports the following three set operators that connect two or more queries.</a:t>
            </a:r>
            <a:endParaRPr lang="en-IN" dirty="0"/>
          </a:p>
          <a:p>
            <a:pPr lvl="1"/>
            <a:r>
              <a:rPr lang="en-US" dirty="0"/>
              <a:t>UNION</a:t>
            </a:r>
            <a:endParaRPr lang="en-IN" dirty="0"/>
          </a:p>
          <a:p>
            <a:pPr lvl="1"/>
            <a:r>
              <a:rPr lang="en-US" dirty="0"/>
              <a:t>INTERSECT</a:t>
            </a:r>
            <a:endParaRPr lang="en-IN" dirty="0"/>
          </a:p>
          <a:p>
            <a:pPr lvl="1"/>
            <a:r>
              <a:rPr lang="en-US" dirty="0"/>
              <a:t>EXCEPT</a:t>
            </a:r>
            <a:endParaRPr lang="en-IN" dirty="0"/>
          </a:p>
          <a:p>
            <a:endParaRPr lang="en-IN" dirty="0"/>
          </a:p>
        </p:txBody>
      </p:sp>
    </p:spTree>
    <p:extLst>
      <p:ext uri="{BB962C8B-B14F-4D97-AF65-F5344CB8AC3E}">
        <p14:creationId xmlns:p14="http://schemas.microsoft.com/office/powerpoint/2010/main" val="15829428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5F6E7-EB9B-48FC-A82B-FAE43F8B808B}"/>
              </a:ext>
            </a:extLst>
          </p:cNvPr>
          <p:cNvSpPr>
            <a:spLocks noGrp="1"/>
          </p:cNvSpPr>
          <p:nvPr>
            <p:ph type="title"/>
          </p:nvPr>
        </p:nvSpPr>
        <p:spPr>
          <a:xfrm>
            <a:off x="838200" y="365125"/>
            <a:ext cx="10515600" cy="832079"/>
          </a:xfrm>
        </p:spPr>
        <p:txBody>
          <a:bodyPr/>
          <a:lstStyle/>
          <a:p>
            <a:r>
              <a:rPr lang="en-US" b="1" dirty="0"/>
              <a:t>UNION :</a:t>
            </a:r>
            <a:endParaRPr lang="en-IN" dirty="0"/>
          </a:p>
        </p:txBody>
      </p:sp>
      <p:sp>
        <p:nvSpPr>
          <p:cNvPr id="3" name="Content Placeholder 2">
            <a:extLst>
              <a:ext uri="{FF2B5EF4-FFF2-40B4-BE49-F238E27FC236}">
                <a16:creationId xmlns:a16="http://schemas.microsoft.com/office/drawing/2014/main" id="{2C0D59BB-62E1-4CD4-B85E-0D78409B0B5B}"/>
              </a:ext>
            </a:extLst>
          </p:cNvPr>
          <p:cNvSpPr>
            <a:spLocks noGrp="1"/>
          </p:cNvSpPr>
          <p:nvPr>
            <p:ph idx="1"/>
          </p:nvPr>
        </p:nvSpPr>
        <p:spPr>
          <a:xfrm>
            <a:off x="838200" y="1197204"/>
            <a:ext cx="10515600" cy="4979759"/>
          </a:xfrm>
        </p:spPr>
        <p:txBody>
          <a:bodyPr/>
          <a:lstStyle/>
          <a:p>
            <a:pPr lvl="0"/>
            <a:r>
              <a:rPr lang="en-US" dirty="0"/>
              <a:t>The result of the UNION of the two sets is the set of all elements appearing in either or both of the sets by eliminating duplicate values. If UNION ALL is used, all resulting rows, including duplicates, are to be displayed.</a:t>
            </a:r>
            <a:endParaRPr lang="en-IN" dirty="0"/>
          </a:p>
          <a:p>
            <a:r>
              <a:rPr lang="en-US" b="1" dirty="0"/>
              <a:t>Example : </a:t>
            </a:r>
            <a:endParaRPr lang="en-IN" dirty="0"/>
          </a:p>
          <a:p>
            <a:r>
              <a:rPr lang="en-US" b="1" dirty="0"/>
              <a:t>	Find jobs available in </a:t>
            </a:r>
            <a:r>
              <a:rPr lang="en-US" b="1" dirty="0" err="1"/>
              <a:t>departmenents</a:t>
            </a:r>
            <a:r>
              <a:rPr lang="en-US" b="1" dirty="0"/>
              <a:t> 10,20</a:t>
            </a:r>
            <a:endParaRPr lang="en-IN" dirty="0"/>
          </a:p>
          <a:p>
            <a:r>
              <a:rPr lang="en-US" dirty="0"/>
              <a:t>	Select Job From </a:t>
            </a:r>
            <a:r>
              <a:rPr lang="en-US" dirty="0" err="1"/>
              <a:t>Emp</a:t>
            </a:r>
            <a:r>
              <a:rPr lang="en-US" dirty="0"/>
              <a:t> Where </a:t>
            </a:r>
            <a:r>
              <a:rPr lang="en-US" dirty="0" err="1"/>
              <a:t>Deptno</a:t>
            </a:r>
            <a:r>
              <a:rPr lang="en-US" dirty="0"/>
              <a:t>=10</a:t>
            </a:r>
            <a:endParaRPr lang="en-IN" dirty="0"/>
          </a:p>
          <a:p>
            <a:r>
              <a:rPr lang="en-US" dirty="0"/>
              <a:t>	Union</a:t>
            </a:r>
            <a:endParaRPr lang="en-IN" dirty="0"/>
          </a:p>
          <a:p>
            <a:r>
              <a:rPr lang="en-US" dirty="0"/>
              <a:t>	Select Job From </a:t>
            </a:r>
            <a:r>
              <a:rPr lang="en-US" dirty="0" err="1"/>
              <a:t>Emp</a:t>
            </a:r>
            <a:r>
              <a:rPr lang="en-US" dirty="0"/>
              <a:t> Where </a:t>
            </a:r>
            <a:r>
              <a:rPr lang="en-US" dirty="0" err="1"/>
              <a:t>Deptno</a:t>
            </a:r>
            <a:r>
              <a:rPr lang="en-US" dirty="0"/>
              <a:t>=20</a:t>
            </a:r>
            <a:endParaRPr lang="en-IN" dirty="0"/>
          </a:p>
          <a:p>
            <a:endParaRPr lang="en-IN" dirty="0"/>
          </a:p>
        </p:txBody>
      </p:sp>
    </p:spTree>
    <p:extLst>
      <p:ext uri="{BB962C8B-B14F-4D97-AF65-F5344CB8AC3E}">
        <p14:creationId xmlns:p14="http://schemas.microsoft.com/office/powerpoint/2010/main" val="14416597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C216D-92F2-4337-B30A-8180AFE6EB8D}"/>
              </a:ext>
            </a:extLst>
          </p:cNvPr>
          <p:cNvSpPr>
            <a:spLocks noGrp="1"/>
          </p:cNvSpPr>
          <p:nvPr>
            <p:ph type="title"/>
          </p:nvPr>
        </p:nvSpPr>
        <p:spPr>
          <a:xfrm>
            <a:off x="838200" y="365126"/>
            <a:ext cx="10515600" cy="747238"/>
          </a:xfrm>
        </p:spPr>
        <p:txBody>
          <a:bodyPr/>
          <a:lstStyle/>
          <a:p>
            <a:r>
              <a:rPr lang="en-US" b="1" dirty="0"/>
              <a:t>INTERSECT :</a:t>
            </a:r>
            <a:endParaRPr lang="en-IN" dirty="0"/>
          </a:p>
        </p:txBody>
      </p:sp>
      <p:sp>
        <p:nvSpPr>
          <p:cNvPr id="3" name="Content Placeholder 2">
            <a:extLst>
              <a:ext uri="{FF2B5EF4-FFF2-40B4-BE49-F238E27FC236}">
                <a16:creationId xmlns:a16="http://schemas.microsoft.com/office/drawing/2014/main" id="{20849D25-409F-4EE0-9494-CB6759E42FD0}"/>
              </a:ext>
            </a:extLst>
          </p:cNvPr>
          <p:cNvSpPr>
            <a:spLocks noGrp="1"/>
          </p:cNvSpPr>
          <p:nvPr>
            <p:ph idx="1"/>
          </p:nvPr>
        </p:nvSpPr>
        <p:spPr>
          <a:xfrm>
            <a:off x="838200" y="1225485"/>
            <a:ext cx="10515600" cy="4951478"/>
          </a:xfrm>
        </p:spPr>
        <p:txBody>
          <a:bodyPr/>
          <a:lstStyle/>
          <a:p>
            <a:pPr lvl="0"/>
            <a:r>
              <a:rPr lang="en-US" dirty="0"/>
              <a:t>The intersection of two tables is the set of rows belonging to both tables.</a:t>
            </a:r>
            <a:endParaRPr lang="en-IN" dirty="0"/>
          </a:p>
          <a:p>
            <a:r>
              <a:rPr lang="en-US" b="1" dirty="0"/>
              <a:t>Example : </a:t>
            </a:r>
            <a:endParaRPr lang="en-IN" dirty="0"/>
          </a:p>
          <a:p>
            <a:r>
              <a:rPr lang="en-US" b="1" dirty="0"/>
              <a:t>	Find jobs available Both in </a:t>
            </a:r>
            <a:r>
              <a:rPr lang="en-US" b="1" dirty="0" err="1"/>
              <a:t>departmenents</a:t>
            </a:r>
            <a:r>
              <a:rPr lang="en-US" b="1" dirty="0"/>
              <a:t> 10 and 20</a:t>
            </a:r>
            <a:endParaRPr lang="en-IN" dirty="0"/>
          </a:p>
          <a:p>
            <a:pPr marL="0" indent="0">
              <a:buNone/>
            </a:pPr>
            <a:r>
              <a:rPr lang="en-US" dirty="0"/>
              <a:t>Select Job From </a:t>
            </a:r>
            <a:r>
              <a:rPr lang="en-US" dirty="0" err="1"/>
              <a:t>Emp</a:t>
            </a:r>
            <a:r>
              <a:rPr lang="en-US" dirty="0"/>
              <a:t> Where </a:t>
            </a:r>
            <a:r>
              <a:rPr lang="en-US" dirty="0" err="1"/>
              <a:t>Deptno</a:t>
            </a:r>
            <a:r>
              <a:rPr lang="en-US" dirty="0"/>
              <a:t>=10</a:t>
            </a:r>
            <a:endParaRPr lang="en-IN" dirty="0"/>
          </a:p>
          <a:p>
            <a:pPr marL="0" indent="0">
              <a:buNone/>
            </a:pPr>
            <a:r>
              <a:rPr lang="en-US" dirty="0"/>
              <a:t>Intersect</a:t>
            </a:r>
            <a:endParaRPr lang="en-IN" dirty="0"/>
          </a:p>
          <a:p>
            <a:pPr marL="0" indent="0">
              <a:buNone/>
            </a:pPr>
            <a:r>
              <a:rPr lang="en-US" dirty="0"/>
              <a:t>Select Job From </a:t>
            </a:r>
            <a:r>
              <a:rPr lang="en-US" dirty="0" err="1"/>
              <a:t>Emp</a:t>
            </a:r>
            <a:r>
              <a:rPr lang="en-US" dirty="0"/>
              <a:t> Where </a:t>
            </a:r>
            <a:r>
              <a:rPr lang="en-US" dirty="0" err="1"/>
              <a:t>Deptno</a:t>
            </a:r>
            <a:r>
              <a:rPr lang="en-US" dirty="0"/>
              <a:t>=20</a:t>
            </a:r>
            <a:endParaRPr lang="en-IN" dirty="0"/>
          </a:p>
          <a:p>
            <a:endParaRPr lang="en-IN" dirty="0"/>
          </a:p>
        </p:txBody>
      </p:sp>
    </p:spTree>
    <p:extLst>
      <p:ext uri="{BB962C8B-B14F-4D97-AF65-F5344CB8AC3E}">
        <p14:creationId xmlns:p14="http://schemas.microsoft.com/office/powerpoint/2010/main" val="3937414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5C20D-FC53-4824-B793-808E3777F941}"/>
              </a:ext>
            </a:extLst>
          </p:cNvPr>
          <p:cNvSpPr>
            <a:spLocks noGrp="1"/>
          </p:cNvSpPr>
          <p:nvPr>
            <p:ph type="title"/>
          </p:nvPr>
        </p:nvSpPr>
        <p:spPr>
          <a:xfrm>
            <a:off x="838200" y="365125"/>
            <a:ext cx="10515600" cy="803799"/>
          </a:xfrm>
        </p:spPr>
        <p:txBody>
          <a:bodyPr/>
          <a:lstStyle/>
          <a:p>
            <a:r>
              <a:rPr lang="en-US" b="1" dirty="0"/>
              <a:t>EXCEPT :</a:t>
            </a:r>
            <a:endParaRPr lang="en-IN" dirty="0"/>
          </a:p>
        </p:txBody>
      </p:sp>
      <p:sp>
        <p:nvSpPr>
          <p:cNvPr id="3" name="Content Placeholder 2">
            <a:extLst>
              <a:ext uri="{FF2B5EF4-FFF2-40B4-BE49-F238E27FC236}">
                <a16:creationId xmlns:a16="http://schemas.microsoft.com/office/drawing/2014/main" id="{C658C835-3925-4DD1-930C-938DE3110334}"/>
              </a:ext>
            </a:extLst>
          </p:cNvPr>
          <p:cNvSpPr>
            <a:spLocks noGrp="1"/>
          </p:cNvSpPr>
          <p:nvPr>
            <p:ph idx="1"/>
          </p:nvPr>
        </p:nvSpPr>
        <p:spPr>
          <a:xfrm>
            <a:off x="838200" y="1065229"/>
            <a:ext cx="10515600" cy="5111734"/>
          </a:xfrm>
        </p:spPr>
        <p:txBody>
          <a:bodyPr/>
          <a:lstStyle/>
          <a:p>
            <a:pPr lvl="0"/>
            <a:r>
              <a:rPr lang="en-US" dirty="0"/>
              <a:t>This finds the difference of two tables. The difference of two tables is the set of all rows, where the resulting rows belong to the first table but not to the second one.</a:t>
            </a:r>
            <a:endParaRPr lang="en-IN" dirty="0"/>
          </a:p>
          <a:p>
            <a:r>
              <a:rPr lang="en-US" b="1" dirty="0"/>
              <a:t>Example : </a:t>
            </a:r>
            <a:endParaRPr lang="en-IN" dirty="0"/>
          </a:p>
          <a:p>
            <a:r>
              <a:rPr lang="en-US" b="1" dirty="0"/>
              <a:t>	Find jobs available in </a:t>
            </a:r>
            <a:r>
              <a:rPr lang="en-US" b="1" dirty="0" err="1"/>
              <a:t>departmenent</a:t>
            </a:r>
            <a:r>
              <a:rPr lang="en-US" b="1" dirty="0"/>
              <a:t> 10 And not in 20</a:t>
            </a:r>
            <a:endParaRPr lang="en-IN" dirty="0"/>
          </a:p>
          <a:p>
            <a:pPr marL="0" indent="0">
              <a:buNone/>
            </a:pPr>
            <a:r>
              <a:rPr lang="en-US" dirty="0"/>
              <a:t>Select Job From </a:t>
            </a:r>
            <a:r>
              <a:rPr lang="en-US" dirty="0" err="1"/>
              <a:t>Emp</a:t>
            </a:r>
            <a:r>
              <a:rPr lang="en-US" dirty="0"/>
              <a:t> Where </a:t>
            </a:r>
            <a:r>
              <a:rPr lang="en-US" dirty="0" err="1"/>
              <a:t>Deptno</a:t>
            </a:r>
            <a:r>
              <a:rPr lang="en-US" dirty="0"/>
              <a:t>=10</a:t>
            </a:r>
            <a:endParaRPr lang="en-IN" dirty="0"/>
          </a:p>
          <a:p>
            <a:pPr marL="0" indent="0">
              <a:buNone/>
            </a:pPr>
            <a:r>
              <a:rPr lang="en-US" dirty="0"/>
              <a:t>Except</a:t>
            </a:r>
            <a:endParaRPr lang="en-IN" dirty="0"/>
          </a:p>
          <a:p>
            <a:pPr marL="0" indent="0">
              <a:buNone/>
            </a:pPr>
            <a:r>
              <a:rPr lang="en-US"/>
              <a:t>Select </a:t>
            </a:r>
            <a:r>
              <a:rPr lang="en-US" dirty="0"/>
              <a:t>Job From </a:t>
            </a:r>
            <a:r>
              <a:rPr lang="en-US" dirty="0" err="1"/>
              <a:t>Emp</a:t>
            </a:r>
            <a:r>
              <a:rPr lang="en-US" dirty="0"/>
              <a:t> Where </a:t>
            </a:r>
            <a:r>
              <a:rPr lang="en-US" dirty="0" err="1"/>
              <a:t>Deptno</a:t>
            </a:r>
            <a:r>
              <a:rPr lang="en-US" dirty="0"/>
              <a:t>=20</a:t>
            </a:r>
            <a:endParaRPr lang="en-IN" dirty="0"/>
          </a:p>
          <a:p>
            <a:endParaRPr lang="en-IN" dirty="0"/>
          </a:p>
        </p:txBody>
      </p:sp>
    </p:spTree>
    <p:extLst>
      <p:ext uri="{BB962C8B-B14F-4D97-AF65-F5344CB8AC3E}">
        <p14:creationId xmlns:p14="http://schemas.microsoft.com/office/powerpoint/2010/main" val="40651907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417</TotalTime>
  <Words>4698</Words>
  <Application>Microsoft Office PowerPoint</Application>
  <PresentationFormat>Widescreen</PresentationFormat>
  <Paragraphs>302</Paragraphs>
  <Slides>49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Calibri</vt:lpstr>
      <vt:lpstr>Calibri Light</vt:lpstr>
      <vt:lpstr>Office Theme</vt:lpstr>
      <vt:lpstr>PowerPoint Presentation</vt:lpstr>
      <vt:lpstr>PowerPoint Presentation</vt:lpstr>
      <vt:lpstr>Data Manipulation Language (DML)</vt:lpstr>
      <vt:lpstr>Inserting Data Into A Table</vt:lpstr>
      <vt:lpstr>Cont..</vt:lpstr>
      <vt:lpstr>Cont..</vt:lpstr>
      <vt:lpstr>Updating Data In The Table</vt:lpstr>
      <vt:lpstr>Cont..</vt:lpstr>
      <vt:lpstr>Cont..</vt:lpstr>
      <vt:lpstr>Cont..</vt:lpstr>
      <vt:lpstr>Deleting Data From The Table</vt:lpstr>
      <vt:lpstr>Truncate Command</vt:lpstr>
      <vt:lpstr>Retreiving Data</vt:lpstr>
      <vt:lpstr>Cont..</vt:lpstr>
      <vt:lpstr>Cont..</vt:lpstr>
      <vt:lpstr>Cont..</vt:lpstr>
      <vt:lpstr>Cont..</vt:lpstr>
      <vt:lpstr>Cont..</vt:lpstr>
      <vt:lpstr>Cont..</vt:lpstr>
      <vt:lpstr>Predicates</vt:lpstr>
      <vt:lpstr>Cont..</vt:lpstr>
      <vt:lpstr>Cont..</vt:lpstr>
      <vt:lpstr>Cont..</vt:lpstr>
      <vt:lpstr>Built In Functions</vt:lpstr>
      <vt:lpstr>Cont..</vt:lpstr>
      <vt:lpstr>Numeric Functions :</vt:lpstr>
      <vt:lpstr>PowerPoint Presentation</vt:lpstr>
      <vt:lpstr>String Functions :</vt:lpstr>
      <vt:lpstr>PowerPoint Presentation</vt:lpstr>
      <vt:lpstr>Date Functions :</vt:lpstr>
      <vt:lpstr>Conversion Functions :</vt:lpstr>
      <vt:lpstr>System Functions :</vt:lpstr>
      <vt:lpstr>Aggregate Functions :</vt:lpstr>
      <vt:lpstr>Convenient Aggregate Functions : </vt:lpstr>
      <vt:lpstr>Group By :</vt:lpstr>
      <vt:lpstr>Having :</vt:lpstr>
      <vt:lpstr>Super Aggregates :</vt:lpstr>
      <vt:lpstr>COMPUTE Clause :</vt:lpstr>
      <vt:lpstr>OVER Clause :</vt:lpstr>
      <vt:lpstr>RANKING FUNCTIONS </vt:lpstr>
      <vt:lpstr>RANK() :</vt:lpstr>
      <vt:lpstr>DENSE_RANK() :</vt:lpstr>
      <vt:lpstr>ROW_NUMBER() :</vt:lpstr>
      <vt:lpstr>PARTITION BY :</vt:lpstr>
      <vt:lpstr>TOP n Clause :</vt:lpstr>
      <vt:lpstr>SET OPERATORS </vt:lpstr>
      <vt:lpstr>UNION :</vt:lpstr>
      <vt:lpstr>INTERSECT :</vt:lpstr>
      <vt:lpstr>EXCEPT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3</cp:revision>
  <dcterms:created xsi:type="dcterms:W3CDTF">2026-02-12T06:55:49Z</dcterms:created>
  <dcterms:modified xsi:type="dcterms:W3CDTF">2026-02-12T13:57:35Z</dcterms:modified>
</cp:coreProperties>
</file>